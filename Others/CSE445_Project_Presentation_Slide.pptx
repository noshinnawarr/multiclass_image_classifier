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ooper Hewitt Bold" charset="1" panose="00000000000000000000"/>
      <p:regular r:id="rId23"/>
    </p:embeddedFont>
    <p:embeddedFont>
      <p:font typeface="Montserrat" charset="1" panose="00000500000000000000"/>
      <p:regular r:id="rId24"/>
    </p:embeddedFont>
    <p:embeddedFont>
      <p:font typeface="Montserrat Bold" charset="1" panose="00000800000000000000"/>
      <p:regular r:id="rId25"/>
    </p:embeddedFont>
    <p:embeddedFont>
      <p:font typeface="Lora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51244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5469634"/>
            <a:ext cx="16230600" cy="1086873"/>
            <a:chOff x="0" y="0"/>
            <a:chExt cx="3339630" cy="2236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39629" cy="223636"/>
            </a:xfrm>
            <a:custGeom>
              <a:avLst/>
              <a:gdLst/>
              <a:ahLst/>
              <a:cxnLst/>
              <a:rect r="r" b="b" t="t" l="l"/>
              <a:pathLst>
                <a:path h="223636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214320"/>
                  </a:lnTo>
                  <a:cubicBezTo>
                    <a:pt x="3339629" y="219465"/>
                    <a:pt x="3335458" y="223636"/>
                    <a:pt x="3330313" y="223636"/>
                  </a:cubicBezTo>
                  <a:lnTo>
                    <a:pt x="9316" y="223636"/>
                  </a:lnTo>
                  <a:cubicBezTo>
                    <a:pt x="4171" y="223636"/>
                    <a:pt x="0" y="219465"/>
                    <a:pt x="0" y="214320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3339630" cy="23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51483" y="1698575"/>
            <a:ext cx="13785034" cy="315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9"/>
              </a:lnSpc>
            </a:pPr>
            <a:r>
              <a:rPr lang="en-US" b="true" sz="9159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MULTI-CLASS ANIMAL IMAGE CLASSIFICATION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54740"/>
            <a:ext cx="1623060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</a:pPr>
            <a:r>
              <a:rPr lang="en-US" sz="2699" spc="-14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Creating a custom image classificati</a:t>
            </a:r>
            <a:r>
              <a:rPr lang="en-US" sz="2699" spc="-14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on dataset featuring five classes: dog, cow, cat, lamb, and </a:t>
            </a:r>
          </a:p>
          <a:p>
            <a:pPr algn="ctr">
              <a:lnSpc>
                <a:spcPts val="2996"/>
              </a:lnSpc>
            </a:pPr>
            <a:r>
              <a:rPr lang="en-US" sz="2699" spc="-14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zebra, each with 100 images sourced from the internet or captured using our phone.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759127"/>
            <a:ext cx="16230600" cy="1086873"/>
            <a:chOff x="0" y="0"/>
            <a:chExt cx="3339630" cy="2236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39629" cy="223636"/>
            </a:xfrm>
            <a:custGeom>
              <a:avLst/>
              <a:gdLst/>
              <a:ahLst/>
              <a:cxnLst/>
              <a:rect r="r" b="b" t="t" l="l"/>
              <a:pathLst>
                <a:path h="223636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214320"/>
                  </a:lnTo>
                  <a:cubicBezTo>
                    <a:pt x="3339629" y="219465"/>
                    <a:pt x="3335458" y="223636"/>
                    <a:pt x="3330313" y="223636"/>
                  </a:cubicBezTo>
                  <a:lnTo>
                    <a:pt x="9316" y="223636"/>
                  </a:lnTo>
                  <a:cubicBezTo>
                    <a:pt x="4171" y="223636"/>
                    <a:pt x="0" y="219465"/>
                    <a:pt x="0" y="214320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339630" cy="23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7051138"/>
            <a:ext cx="16230600" cy="45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sz="2702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Developing a classification model to classify these classes with at least 90% accuracy.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86595" y="2065193"/>
            <a:ext cx="19261191" cy="440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8"/>
              </a:lnSpc>
            </a:pPr>
            <a:r>
              <a:rPr lang="en-US" b="true" sz="12798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IMPLEMENTATION</a:t>
            </a:r>
          </a:p>
          <a:p>
            <a:pPr algn="ctr">
              <a:lnSpc>
                <a:spcPts val="15998"/>
              </a:lnSpc>
            </a:pPr>
            <a:r>
              <a:rPr lang="en-US" b="true" sz="12798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USING CNN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802458"/>
            <a:ext cx="6313346" cy="1780276"/>
            <a:chOff x="0" y="0"/>
            <a:chExt cx="1299042" cy="3663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9042" cy="366312"/>
            </a:xfrm>
            <a:custGeom>
              <a:avLst/>
              <a:gdLst/>
              <a:ahLst/>
              <a:cxnLst/>
              <a:rect r="r" b="b" t="t" l="l"/>
              <a:pathLst>
                <a:path h="366312" w="1299042">
                  <a:moveTo>
                    <a:pt x="23951" y="0"/>
                  </a:moveTo>
                  <a:lnTo>
                    <a:pt x="1275092" y="0"/>
                  </a:lnTo>
                  <a:cubicBezTo>
                    <a:pt x="1288319" y="0"/>
                    <a:pt x="1299042" y="10723"/>
                    <a:pt x="1299042" y="23951"/>
                  </a:cubicBezTo>
                  <a:lnTo>
                    <a:pt x="1299042" y="342361"/>
                  </a:lnTo>
                  <a:cubicBezTo>
                    <a:pt x="1299042" y="355589"/>
                    <a:pt x="1288319" y="366312"/>
                    <a:pt x="1275092" y="366312"/>
                  </a:cubicBezTo>
                  <a:lnTo>
                    <a:pt x="23951" y="366312"/>
                  </a:lnTo>
                  <a:cubicBezTo>
                    <a:pt x="10723" y="366312"/>
                    <a:pt x="0" y="355589"/>
                    <a:pt x="0" y="342361"/>
                  </a:cubicBezTo>
                  <a:lnTo>
                    <a:pt x="0" y="23951"/>
                  </a:lnTo>
                  <a:cubicBezTo>
                    <a:pt x="0" y="10723"/>
                    <a:pt x="10723" y="0"/>
                    <a:pt x="2395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DDA2A2">
                      <a:alpha val="100000"/>
                    </a:srgbClr>
                  </a:gs>
                  <a:gs pos="25000">
                    <a:srgbClr val="FABDBD">
                      <a:alpha val="100000"/>
                    </a:srgbClr>
                  </a:gs>
                  <a:gs pos="50000">
                    <a:srgbClr val="FFCFCE">
                      <a:alpha val="100000"/>
                    </a:srgbClr>
                  </a:gs>
                  <a:gs pos="75000">
                    <a:srgbClr val="FABDBD">
                      <a:alpha val="100000"/>
                    </a:srgbClr>
                  </a:gs>
                  <a:gs pos="100000">
                    <a:srgbClr val="DDA2A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99042" cy="37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48077" y="1802458"/>
            <a:ext cx="9311223" cy="1780276"/>
            <a:chOff x="0" y="0"/>
            <a:chExt cx="1915890" cy="3663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5890" cy="366312"/>
            </a:xfrm>
            <a:custGeom>
              <a:avLst/>
              <a:gdLst/>
              <a:ahLst/>
              <a:cxnLst/>
              <a:rect r="r" b="b" t="t" l="l"/>
              <a:pathLst>
                <a:path h="366312" w="1915890">
                  <a:moveTo>
                    <a:pt x="16239" y="0"/>
                  </a:moveTo>
                  <a:lnTo>
                    <a:pt x="1899650" y="0"/>
                  </a:lnTo>
                  <a:cubicBezTo>
                    <a:pt x="1908619" y="0"/>
                    <a:pt x="1915890" y="7271"/>
                    <a:pt x="1915890" y="16239"/>
                  </a:cubicBezTo>
                  <a:lnTo>
                    <a:pt x="1915890" y="350072"/>
                  </a:lnTo>
                  <a:cubicBezTo>
                    <a:pt x="1915890" y="354379"/>
                    <a:pt x="1914179" y="358510"/>
                    <a:pt x="1911133" y="361555"/>
                  </a:cubicBezTo>
                  <a:cubicBezTo>
                    <a:pt x="1908088" y="364601"/>
                    <a:pt x="1903957" y="366312"/>
                    <a:pt x="1899650" y="366312"/>
                  </a:cubicBezTo>
                  <a:lnTo>
                    <a:pt x="16239" y="366312"/>
                  </a:lnTo>
                  <a:cubicBezTo>
                    <a:pt x="7271" y="366312"/>
                    <a:pt x="0" y="359041"/>
                    <a:pt x="0" y="350072"/>
                  </a:cubicBezTo>
                  <a:lnTo>
                    <a:pt x="0" y="16239"/>
                  </a:lnTo>
                  <a:cubicBezTo>
                    <a:pt x="0" y="7271"/>
                    <a:pt x="7271" y="0"/>
                    <a:pt x="162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DDA2A2">
                      <a:alpha val="100000"/>
                    </a:srgbClr>
                  </a:gs>
                  <a:gs pos="25000">
                    <a:srgbClr val="FABDBD">
                      <a:alpha val="100000"/>
                    </a:srgbClr>
                  </a:gs>
                  <a:gs pos="50000">
                    <a:srgbClr val="FFCFCE">
                      <a:alpha val="100000"/>
                    </a:srgbClr>
                  </a:gs>
                  <a:gs pos="75000">
                    <a:srgbClr val="FABDBD">
                      <a:alpha val="100000"/>
                    </a:srgbClr>
                  </a:gs>
                  <a:gs pos="100000">
                    <a:srgbClr val="DDA2A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15890" cy="37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005675"/>
            <a:ext cx="11134013" cy="907988"/>
            <a:chOff x="0" y="0"/>
            <a:chExt cx="1724950" cy="140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4950" cy="140671"/>
            </a:xfrm>
            <a:custGeom>
              <a:avLst/>
              <a:gdLst/>
              <a:ahLst/>
              <a:cxnLst/>
              <a:rect r="r" b="b" t="t" l="l"/>
              <a:pathLst>
                <a:path h="140671" w="1724950">
                  <a:moveTo>
                    <a:pt x="11125" y="0"/>
                  </a:moveTo>
                  <a:lnTo>
                    <a:pt x="1713824" y="0"/>
                  </a:lnTo>
                  <a:cubicBezTo>
                    <a:pt x="1716775" y="0"/>
                    <a:pt x="1719605" y="1172"/>
                    <a:pt x="1721691" y="3259"/>
                  </a:cubicBezTo>
                  <a:cubicBezTo>
                    <a:pt x="1723778" y="5345"/>
                    <a:pt x="1724950" y="8175"/>
                    <a:pt x="1724950" y="11125"/>
                  </a:cubicBezTo>
                  <a:lnTo>
                    <a:pt x="1724950" y="129546"/>
                  </a:lnTo>
                  <a:cubicBezTo>
                    <a:pt x="1724950" y="132496"/>
                    <a:pt x="1723778" y="135326"/>
                    <a:pt x="1721691" y="137412"/>
                  </a:cubicBezTo>
                  <a:cubicBezTo>
                    <a:pt x="1719605" y="139499"/>
                    <a:pt x="1716775" y="140671"/>
                    <a:pt x="1713824" y="140671"/>
                  </a:cubicBezTo>
                  <a:lnTo>
                    <a:pt x="11125" y="140671"/>
                  </a:lnTo>
                  <a:cubicBezTo>
                    <a:pt x="8175" y="140671"/>
                    <a:pt x="5345" y="139499"/>
                    <a:pt x="3259" y="137412"/>
                  </a:cubicBezTo>
                  <a:cubicBezTo>
                    <a:pt x="1172" y="135326"/>
                    <a:pt x="0" y="132496"/>
                    <a:pt x="0" y="129546"/>
                  </a:cubicBezTo>
                  <a:lnTo>
                    <a:pt x="0" y="11125"/>
                  </a:lnTo>
                  <a:cubicBezTo>
                    <a:pt x="0" y="8175"/>
                    <a:pt x="1172" y="5345"/>
                    <a:pt x="3259" y="3259"/>
                  </a:cubicBezTo>
                  <a:cubicBezTo>
                    <a:pt x="5345" y="1172"/>
                    <a:pt x="8175" y="0"/>
                    <a:pt x="1112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5428012"/>
            <a:ext cx="11134013" cy="907988"/>
            <a:chOff x="0" y="0"/>
            <a:chExt cx="1724950" cy="14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4950" cy="140671"/>
            </a:xfrm>
            <a:custGeom>
              <a:avLst/>
              <a:gdLst/>
              <a:ahLst/>
              <a:cxnLst/>
              <a:rect r="r" b="b" t="t" l="l"/>
              <a:pathLst>
                <a:path h="140671" w="1724950">
                  <a:moveTo>
                    <a:pt x="11125" y="0"/>
                  </a:moveTo>
                  <a:lnTo>
                    <a:pt x="1713824" y="0"/>
                  </a:lnTo>
                  <a:cubicBezTo>
                    <a:pt x="1716775" y="0"/>
                    <a:pt x="1719605" y="1172"/>
                    <a:pt x="1721691" y="3259"/>
                  </a:cubicBezTo>
                  <a:cubicBezTo>
                    <a:pt x="1723778" y="5345"/>
                    <a:pt x="1724950" y="8175"/>
                    <a:pt x="1724950" y="11125"/>
                  </a:cubicBezTo>
                  <a:lnTo>
                    <a:pt x="1724950" y="129546"/>
                  </a:lnTo>
                  <a:cubicBezTo>
                    <a:pt x="1724950" y="132496"/>
                    <a:pt x="1723778" y="135326"/>
                    <a:pt x="1721691" y="137412"/>
                  </a:cubicBezTo>
                  <a:cubicBezTo>
                    <a:pt x="1719605" y="139499"/>
                    <a:pt x="1716775" y="140671"/>
                    <a:pt x="1713824" y="140671"/>
                  </a:cubicBezTo>
                  <a:lnTo>
                    <a:pt x="11125" y="140671"/>
                  </a:lnTo>
                  <a:cubicBezTo>
                    <a:pt x="8175" y="140671"/>
                    <a:pt x="5345" y="139499"/>
                    <a:pt x="3259" y="137412"/>
                  </a:cubicBezTo>
                  <a:cubicBezTo>
                    <a:pt x="1172" y="135326"/>
                    <a:pt x="0" y="132496"/>
                    <a:pt x="0" y="129546"/>
                  </a:cubicBezTo>
                  <a:lnTo>
                    <a:pt x="0" y="11125"/>
                  </a:lnTo>
                  <a:cubicBezTo>
                    <a:pt x="0" y="8175"/>
                    <a:pt x="1172" y="5345"/>
                    <a:pt x="3259" y="3259"/>
                  </a:cubicBezTo>
                  <a:cubicBezTo>
                    <a:pt x="5345" y="1172"/>
                    <a:pt x="8175" y="0"/>
                    <a:pt x="1112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6850350"/>
            <a:ext cx="5065125" cy="1621376"/>
            <a:chOff x="0" y="0"/>
            <a:chExt cx="936518" cy="2997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6518" cy="299785"/>
            </a:xfrm>
            <a:custGeom>
              <a:avLst/>
              <a:gdLst/>
              <a:ahLst/>
              <a:cxnLst/>
              <a:rect r="r" b="b" t="t" l="l"/>
              <a:pathLst>
                <a:path h="299785" w="936518">
                  <a:moveTo>
                    <a:pt x="35155" y="0"/>
                  </a:moveTo>
                  <a:lnTo>
                    <a:pt x="901363" y="0"/>
                  </a:lnTo>
                  <a:cubicBezTo>
                    <a:pt x="920778" y="0"/>
                    <a:pt x="936518" y="15739"/>
                    <a:pt x="936518" y="35155"/>
                  </a:cubicBezTo>
                  <a:lnTo>
                    <a:pt x="936518" y="264630"/>
                  </a:lnTo>
                  <a:cubicBezTo>
                    <a:pt x="936518" y="284045"/>
                    <a:pt x="920778" y="299785"/>
                    <a:pt x="901363" y="299785"/>
                  </a:cubicBezTo>
                  <a:lnTo>
                    <a:pt x="35155" y="299785"/>
                  </a:lnTo>
                  <a:cubicBezTo>
                    <a:pt x="15739" y="299785"/>
                    <a:pt x="0" y="284045"/>
                    <a:pt x="0" y="264630"/>
                  </a:cubicBezTo>
                  <a:lnTo>
                    <a:pt x="0" y="35155"/>
                  </a:lnTo>
                  <a:cubicBezTo>
                    <a:pt x="0" y="15739"/>
                    <a:pt x="15739" y="0"/>
                    <a:pt x="3515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49958" y="6850350"/>
            <a:ext cx="6309342" cy="609667"/>
            <a:chOff x="0" y="0"/>
            <a:chExt cx="977482" cy="944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7482" cy="94453"/>
            </a:xfrm>
            <a:custGeom>
              <a:avLst/>
              <a:gdLst/>
              <a:ahLst/>
              <a:cxnLst/>
              <a:rect r="r" b="b" t="t" l="l"/>
              <a:pathLst>
                <a:path h="94453" w="977482">
                  <a:moveTo>
                    <a:pt x="18406" y="0"/>
                  </a:moveTo>
                  <a:lnTo>
                    <a:pt x="959076" y="0"/>
                  </a:lnTo>
                  <a:cubicBezTo>
                    <a:pt x="969242" y="0"/>
                    <a:pt x="977482" y="8241"/>
                    <a:pt x="977482" y="18406"/>
                  </a:cubicBezTo>
                  <a:lnTo>
                    <a:pt x="977482" y="76047"/>
                  </a:lnTo>
                  <a:cubicBezTo>
                    <a:pt x="977482" y="86213"/>
                    <a:pt x="969242" y="94453"/>
                    <a:pt x="959076" y="94453"/>
                  </a:cubicBezTo>
                  <a:lnTo>
                    <a:pt x="18406" y="94453"/>
                  </a:lnTo>
                  <a:cubicBezTo>
                    <a:pt x="8241" y="94453"/>
                    <a:pt x="0" y="86213"/>
                    <a:pt x="0" y="76047"/>
                  </a:cubicBezTo>
                  <a:lnTo>
                    <a:pt x="0" y="18406"/>
                  </a:lnTo>
                  <a:cubicBezTo>
                    <a:pt x="0" y="8241"/>
                    <a:pt x="8241" y="0"/>
                    <a:pt x="1840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9912" y="174625"/>
            <a:ext cx="1632817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DATA PREPARATION &amp; PROCESSING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020" y="1922239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4336" y="1922239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Setup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74965" y="2392140"/>
            <a:ext cx="909313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Dataset contains </a:t>
            </a:r>
            <a:r>
              <a:rPr lang="en-US" b="true" sz="20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classes</a:t>
            </a: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b="true" sz="20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cat, cow, dog, lamb, zebra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100 images per class → total </a:t>
            </a:r>
            <a:r>
              <a:rPr lang="en-US" b="true" sz="20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500 images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Stored in class-wise folders (required by TensorFlow)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7718" y="2392140"/>
            <a:ext cx="5515309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Preparing an image dataset for training a deep learning model to classify animals.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64209" y="4207302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21530" y="4058984"/>
            <a:ext cx="433629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Automatically detects class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labels from folder names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64209" y="5629639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21505" y="5298504"/>
            <a:ext cx="453779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Loads images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Normalizes pixel values from </a:t>
            </a: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0–255 → 0–1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2795" y="8519351"/>
            <a:ext cx="4036936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Splitting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27632" y="7408671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84928" y="7065091"/>
            <a:ext cx="453779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70% Training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20% Validation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10% Testing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86161" y="7507642"/>
            <a:ext cx="4036936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499429" y="8137081"/>
            <a:ext cx="5623738" cy="334645"/>
            <a:chOff x="0" y="0"/>
            <a:chExt cx="7498317" cy="446194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9228"/>
              <a:ext cx="490934" cy="455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7"/>
                </a:lnSpc>
                <a:spcBef>
                  <a:spcPct val="0"/>
                </a:spcBef>
              </a:pPr>
              <a:r>
                <a:rPr lang="en-US" sz="2199" spc="-12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✅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02791" y="-38100"/>
              <a:ext cx="6795526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Confirms dataset loaded correctly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16689"/>
            <a:ext cx="10886750" cy="2105077"/>
            <a:chOff x="0" y="0"/>
            <a:chExt cx="2240072" cy="4331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0072" cy="433143"/>
            </a:xfrm>
            <a:custGeom>
              <a:avLst/>
              <a:gdLst/>
              <a:ahLst/>
              <a:cxnLst/>
              <a:rect r="r" b="b" t="t" l="l"/>
              <a:pathLst>
                <a:path h="433143" w="2240072">
                  <a:moveTo>
                    <a:pt x="13889" y="0"/>
                  </a:moveTo>
                  <a:lnTo>
                    <a:pt x="2226183" y="0"/>
                  </a:lnTo>
                  <a:cubicBezTo>
                    <a:pt x="2229866" y="0"/>
                    <a:pt x="2233399" y="1463"/>
                    <a:pt x="2236004" y="4068"/>
                  </a:cubicBezTo>
                  <a:cubicBezTo>
                    <a:pt x="2238609" y="6673"/>
                    <a:pt x="2240072" y="10206"/>
                    <a:pt x="2240072" y="13889"/>
                  </a:cubicBezTo>
                  <a:lnTo>
                    <a:pt x="2240072" y="419254"/>
                  </a:lnTo>
                  <a:cubicBezTo>
                    <a:pt x="2240072" y="422938"/>
                    <a:pt x="2238609" y="426471"/>
                    <a:pt x="2236004" y="429075"/>
                  </a:cubicBezTo>
                  <a:cubicBezTo>
                    <a:pt x="2233399" y="431680"/>
                    <a:pt x="2229866" y="433143"/>
                    <a:pt x="2226183" y="433143"/>
                  </a:cubicBezTo>
                  <a:lnTo>
                    <a:pt x="13889" y="433143"/>
                  </a:lnTo>
                  <a:cubicBezTo>
                    <a:pt x="10206" y="433143"/>
                    <a:pt x="6673" y="431680"/>
                    <a:pt x="4068" y="429075"/>
                  </a:cubicBezTo>
                  <a:cubicBezTo>
                    <a:pt x="1463" y="426471"/>
                    <a:pt x="0" y="422938"/>
                    <a:pt x="0" y="419254"/>
                  </a:cubicBezTo>
                  <a:lnTo>
                    <a:pt x="0" y="13889"/>
                  </a:lnTo>
                  <a:cubicBezTo>
                    <a:pt x="0" y="10206"/>
                    <a:pt x="1463" y="6673"/>
                    <a:pt x="4068" y="4068"/>
                  </a:cubicBezTo>
                  <a:cubicBezTo>
                    <a:pt x="6673" y="1463"/>
                    <a:pt x="10206" y="0"/>
                    <a:pt x="13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240072" cy="442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33296" y="1916689"/>
            <a:ext cx="4926004" cy="2105077"/>
            <a:chOff x="0" y="0"/>
            <a:chExt cx="1013581" cy="4331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3581" cy="433143"/>
            </a:xfrm>
            <a:custGeom>
              <a:avLst/>
              <a:gdLst/>
              <a:ahLst/>
              <a:cxnLst/>
              <a:rect r="r" b="b" t="t" l="l"/>
              <a:pathLst>
                <a:path h="433143" w="1013581">
                  <a:moveTo>
                    <a:pt x="30696" y="0"/>
                  </a:moveTo>
                  <a:lnTo>
                    <a:pt x="982885" y="0"/>
                  </a:lnTo>
                  <a:cubicBezTo>
                    <a:pt x="999838" y="0"/>
                    <a:pt x="1013581" y="13743"/>
                    <a:pt x="1013581" y="30696"/>
                  </a:cubicBezTo>
                  <a:lnTo>
                    <a:pt x="1013581" y="402447"/>
                  </a:lnTo>
                  <a:cubicBezTo>
                    <a:pt x="1013581" y="410588"/>
                    <a:pt x="1010347" y="418396"/>
                    <a:pt x="1004590" y="424153"/>
                  </a:cubicBezTo>
                  <a:cubicBezTo>
                    <a:pt x="998834" y="429909"/>
                    <a:pt x="991026" y="433143"/>
                    <a:pt x="982885" y="433143"/>
                  </a:cubicBezTo>
                  <a:lnTo>
                    <a:pt x="30696" y="433143"/>
                  </a:lnTo>
                  <a:cubicBezTo>
                    <a:pt x="22555" y="433143"/>
                    <a:pt x="14747" y="429909"/>
                    <a:pt x="8991" y="424153"/>
                  </a:cubicBezTo>
                  <a:cubicBezTo>
                    <a:pt x="3234" y="418396"/>
                    <a:pt x="0" y="410588"/>
                    <a:pt x="0" y="402447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13581" cy="442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84020" y="2833306"/>
            <a:ext cx="4224555" cy="892995"/>
            <a:chOff x="0" y="0"/>
            <a:chExt cx="654494" cy="1383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4494" cy="138348"/>
            </a:xfrm>
            <a:custGeom>
              <a:avLst/>
              <a:gdLst/>
              <a:ahLst/>
              <a:cxnLst/>
              <a:rect r="r" b="b" t="t" l="l"/>
              <a:pathLst>
                <a:path h="138348" w="654494">
                  <a:moveTo>
                    <a:pt x="42150" y="0"/>
                  </a:moveTo>
                  <a:lnTo>
                    <a:pt x="612344" y="0"/>
                  </a:lnTo>
                  <a:cubicBezTo>
                    <a:pt x="623523" y="0"/>
                    <a:pt x="634244" y="4441"/>
                    <a:pt x="642149" y="12345"/>
                  </a:cubicBezTo>
                  <a:cubicBezTo>
                    <a:pt x="650053" y="20250"/>
                    <a:pt x="654494" y="30971"/>
                    <a:pt x="654494" y="42150"/>
                  </a:cubicBezTo>
                  <a:lnTo>
                    <a:pt x="654494" y="96199"/>
                  </a:lnTo>
                  <a:cubicBezTo>
                    <a:pt x="654494" y="107377"/>
                    <a:pt x="650053" y="118098"/>
                    <a:pt x="642149" y="126003"/>
                  </a:cubicBezTo>
                  <a:cubicBezTo>
                    <a:pt x="634244" y="133908"/>
                    <a:pt x="623523" y="138348"/>
                    <a:pt x="612344" y="138348"/>
                  </a:cubicBezTo>
                  <a:lnTo>
                    <a:pt x="42150" y="138348"/>
                  </a:lnTo>
                  <a:cubicBezTo>
                    <a:pt x="30971" y="138348"/>
                    <a:pt x="20250" y="133908"/>
                    <a:pt x="12345" y="126003"/>
                  </a:cubicBezTo>
                  <a:cubicBezTo>
                    <a:pt x="4441" y="118098"/>
                    <a:pt x="0" y="107377"/>
                    <a:pt x="0" y="96199"/>
                  </a:cubicBezTo>
                  <a:lnTo>
                    <a:pt x="0" y="42150"/>
                  </a:lnTo>
                  <a:cubicBezTo>
                    <a:pt x="0" y="30971"/>
                    <a:pt x="4441" y="20250"/>
                    <a:pt x="12345" y="12345"/>
                  </a:cubicBezTo>
                  <a:cubicBezTo>
                    <a:pt x="20250" y="4441"/>
                    <a:pt x="30971" y="0"/>
                    <a:pt x="4215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78800" y="5959409"/>
            <a:ext cx="2933033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Convolution</a:t>
            </a:r>
          </a:p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Pooling</a:t>
            </a:r>
          </a:p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638106" y="4393622"/>
            <a:ext cx="7246448" cy="2007112"/>
            <a:chOff x="0" y="0"/>
            <a:chExt cx="1491039" cy="4129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1039" cy="412986"/>
            </a:xfrm>
            <a:custGeom>
              <a:avLst/>
              <a:gdLst/>
              <a:ahLst/>
              <a:cxnLst/>
              <a:rect r="r" b="b" t="t" l="l"/>
              <a:pathLst>
                <a:path h="412986" w="1491039">
                  <a:moveTo>
                    <a:pt x="20867" y="0"/>
                  </a:moveTo>
                  <a:lnTo>
                    <a:pt x="1470172" y="0"/>
                  </a:lnTo>
                  <a:cubicBezTo>
                    <a:pt x="1475706" y="0"/>
                    <a:pt x="1481014" y="2198"/>
                    <a:pt x="1484927" y="6112"/>
                  </a:cubicBezTo>
                  <a:cubicBezTo>
                    <a:pt x="1488840" y="10025"/>
                    <a:pt x="1491039" y="15332"/>
                    <a:pt x="1491039" y="20867"/>
                  </a:cubicBezTo>
                  <a:lnTo>
                    <a:pt x="1491039" y="392119"/>
                  </a:lnTo>
                  <a:cubicBezTo>
                    <a:pt x="1491039" y="403644"/>
                    <a:pt x="1481696" y="412986"/>
                    <a:pt x="1470172" y="412986"/>
                  </a:cubicBezTo>
                  <a:lnTo>
                    <a:pt x="20867" y="412986"/>
                  </a:lnTo>
                  <a:cubicBezTo>
                    <a:pt x="15332" y="412986"/>
                    <a:pt x="10025" y="410788"/>
                    <a:pt x="6112" y="406874"/>
                  </a:cubicBezTo>
                  <a:cubicBezTo>
                    <a:pt x="2198" y="402961"/>
                    <a:pt x="0" y="397654"/>
                    <a:pt x="0" y="392119"/>
                  </a:cubicBezTo>
                  <a:lnTo>
                    <a:pt x="0" y="20867"/>
                  </a:lnTo>
                  <a:cubicBezTo>
                    <a:pt x="0" y="15332"/>
                    <a:pt x="2198" y="10025"/>
                    <a:pt x="6112" y="6112"/>
                  </a:cubicBezTo>
                  <a:cubicBezTo>
                    <a:pt x="10025" y="2198"/>
                    <a:pt x="15332" y="0"/>
                    <a:pt x="2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91039" cy="422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19518" y="4671252"/>
            <a:ext cx="6683624" cy="1451853"/>
            <a:chOff x="0" y="0"/>
            <a:chExt cx="1182734" cy="256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2734" cy="256920"/>
            </a:xfrm>
            <a:custGeom>
              <a:avLst/>
              <a:gdLst/>
              <a:ahLst/>
              <a:cxnLst/>
              <a:rect r="r" b="b" t="t" l="l"/>
              <a:pathLst>
                <a:path h="256920" w="1182734">
                  <a:moveTo>
                    <a:pt x="26642" y="0"/>
                  </a:moveTo>
                  <a:lnTo>
                    <a:pt x="1156092" y="0"/>
                  </a:lnTo>
                  <a:cubicBezTo>
                    <a:pt x="1170806" y="0"/>
                    <a:pt x="1182734" y="11928"/>
                    <a:pt x="1182734" y="26642"/>
                  </a:cubicBezTo>
                  <a:lnTo>
                    <a:pt x="1182734" y="230278"/>
                  </a:lnTo>
                  <a:cubicBezTo>
                    <a:pt x="1182734" y="244992"/>
                    <a:pt x="1170806" y="256920"/>
                    <a:pt x="1156092" y="256920"/>
                  </a:cubicBezTo>
                  <a:lnTo>
                    <a:pt x="26642" y="256920"/>
                  </a:lnTo>
                  <a:cubicBezTo>
                    <a:pt x="11928" y="256920"/>
                    <a:pt x="0" y="244992"/>
                    <a:pt x="0" y="230278"/>
                  </a:cubicBezTo>
                  <a:lnTo>
                    <a:pt x="0" y="26642"/>
                  </a:lnTo>
                  <a:cubicBezTo>
                    <a:pt x="0" y="11928"/>
                    <a:pt x="11928" y="0"/>
                    <a:pt x="26642" y="0"/>
                  </a:cubicBezTo>
                  <a:close/>
                </a:path>
              </a:pathLst>
            </a:custGeom>
            <a:blipFill>
              <a:blip r:embed="rId5"/>
              <a:stretch>
                <a:fillRect l="-34531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289476" y="4778688"/>
            <a:ext cx="753417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Extracts low-level features (edges)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Pooling reduces image size &amp;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       computation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638856" y="6772210"/>
            <a:ext cx="7246448" cy="2007112"/>
            <a:chOff x="0" y="0"/>
            <a:chExt cx="1491039" cy="4129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1039" cy="412986"/>
            </a:xfrm>
            <a:custGeom>
              <a:avLst/>
              <a:gdLst/>
              <a:ahLst/>
              <a:cxnLst/>
              <a:rect r="r" b="b" t="t" l="l"/>
              <a:pathLst>
                <a:path h="412986" w="1491039">
                  <a:moveTo>
                    <a:pt x="20867" y="0"/>
                  </a:moveTo>
                  <a:lnTo>
                    <a:pt x="1470172" y="0"/>
                  </a:lnTo>
                  <a:cubicBezTo>
                    <a:pt x="1475706" y="0"/>
                    <a:pt x="1481014" y="2198"/>
                    <a:pt x="1484927" y="6112"/>
                  </a:cubicBezTo>
                  <a:cubicBezTo>
                    <a:pt x="1488840" y="10025"/>
                    <a:pt x="1491039" y="15332"/>
                    <a:pt x="1491039" y="20867"/>
                  </a:cubicBezTo>
                  <a:lnTo>
                    <a:pt x="1491039" y="392119"/>
                  </a:lnTo>
                  <a:cubicBezTo>
                    <a:pt x="1491039" y="403644"/>
                    <a:pt x="1481696" y="412986"/>
                    <a:pt x="1470172" y="412986"/>
                  </a:cubicBezTo>
                  <a:lnTo>
                    <a:pt x="20867" y="412986"/>
                  </a:lnTo>
                  <a:cubicBezTo>
                    <a:pt x="15332" y="412986"/>
                    <a:pt x="10025" y="410788"/>
                    <a:pt x="6112" y="406874"/>
                  </a:cubicBezTo>
                  <a:cubicBezTo>
                    <a:pt x="2198" y="402961"/>
                    <a:pt x="0" y="397654"/>
                    <a:pt x="0" y="392119"/>
                  </a:cubicBezTo>
                  <a:lnTo>
                    <a:pt x="0" y="20867"/>
                  </a:lnTo>
                  <a:cubicBezTo>
                    <a:pt x="0" y="15332"/>
                    <a:pt x="2198" y="10025"/>
                    <a:pt x="6112" y="6112"/>
                  </a:cubicBezTo>
                  <a:cubicBezTo>
                    <a:pt x="10025" y="2198"/>
                    <a:pt x="15332" y="0"/>
                    <a:pt x="2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491039" cy="422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920458" y="7890066"/>
            <a:ext cx="6686126" cy="513044"/>
          </a:xfrm>
          <a:custGeom>
            <a:avLst/>
            <a:gdLst/>
            <a:ahLst/>
            <a:cxnLst/>
            <a:rect r="r" b="b" t="t" l="l"/>
            <a:pathLst>
              <a:path h="513044" w="6686126">
                <a:moveTo>
                  <a:pt x="0" y="0"/>
                </a:moveTo>
                <a:lnTo>
                  <a:pt x="6686127" y="0"/>
                </a:lnTo>
                <a:lnTo>
                  <a:pt x="6686127" y="513044"/>
                </a:lnTo>
                <a:lnTo>
                  <a:pt x="0" y="5130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920458" y="7131051"/>
            <a:ext cx="6683433" cy="565265"/>
          </a:xfrm>
          <a:custGeom>
            <a:avLst/>
            <a:gdLst/>
            <a:ahLst/>
            <a:cxnLst/>
            <a:rect r="r" b="b" t="t" l="l"/>
            <a:pathLst>
              <a:path h="565265" w="6683433">
                <a:moveTo>
                  <a:pt x="0" y="0"/>
                </a:moveTo>
                <a:lnTo>
                  <a:pt x="6683433" y="0"/>
                </a:lnTo>
                <a:lnTo>
                  <a:pt x="6683433" y="565266"/>
                </a:lnTo>
                <a:lnTo>
                  <a:pt x="0" y="565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887568" y="2116338"/>
            <a:ext cx="261958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CNN?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401" y="2661314"/>
            <a:ext cx="10001216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Convolutional Neural Networks are effective for image feature extraction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Automatically learn edges, textures, and shapes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46945" y="2116338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Structure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33185" y="5144812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85354" y="7557326"/>
            <a:ext cx="523817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Learns more complex patterns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32179" y="5144812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77321" y="7523399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33185" y="7523399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AutoShape 31" id="31"/>
          <p:cNvSpPr/>
          <p:nvPr/>
        </p:nvSpPr>
        <p:spPr>
          <a:xfrm>
            <a:off x="3052153" y="5442482"/>
            <a:ext cx="181032" cy="233328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2735032" y="6613460"/>
            <a:ext cx="49815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632905" y="218064"/>
            <a:ext cx="1302219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CNN MODEL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2005" y="165100"/>
            <a:ext cx="1520399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CNN MODEL ARCHITECTURE (CONT.)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7944" y="3533640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96339" y="2647106"/>
            <a:ext cx="253025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Fully Conne</a:t>
            </a:r>
          </a:p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-cted Layers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019565" y="1931149"/>
            <a:ext cx="7046210" cy="2320915"/>
            <a:chOff x="0" y="0"/>
            <a:chExt cx="1449837" cy="4775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9837" cy="477555"/>
            </a:xfrm>
            <a:custGeom>
              <a:avLst/>
              <a:gdLst/>
              <a:ahLst/>
              <a:cxnLst/>
              <a:rect r="r" b="b" t="t" l="l"/>
              <a:pathLst>
                <a:path h="477555" w="1449837">
                  <a:moveTo>
                    <a:pt x="21460" y="0"/>
                  </a:moveTo>
                  <a:lnTo>
                    <a:pt x="1428378" y="0"/>
                  </a:lnTo>
                  <a:cubicBezTo>
                    <a:pt x="1434069" y="0"/>
                    <a:pt x="1439528" y="2261"/>
                    <a:pt x="1443552" y="6285"/>
                  </a:cubicBezTo>
                  <a:cubicBezTo>
                    <a:pt x="1447576" y="10310"/>
                    <a:pt x="1449837" y="15768"/>
                    <a:pt x="1449837" y="21460"/>
                  </a:cubicBezTo>
                  <a:lnTo>
                    <a:pt x="1449837" y="456095"/>
                  </a:lnTo>
                  <a:cubicBezTo>
                    <a:pt x="1449837" y="467947"/>
                    <a:pt x="1440230" y="477555"/>
                    <a:pt x="1428378" y="477555"/>
                  </a:cubicBezTo>
                  <a:lnTo>
                    <a:pt x="21460" y="477555"/>
                  </a:lnTo>
                  <a:cubicBezTo>
                    <a:pt x="9608" y="477555"/>
                    <a:pt x="0" y="467947"/>
                    <a:pt x="0" y="456095"/>
                  </a:cubicBezTo>
                  <a:lnTo>
                    <a:pt x="0" y="21460"/>
                  </a:lnTo>
                  <a:cubicBezTo>
                    <a:pt x="0" y="9608"/>
                    <a:pt x="9608" y="0"/>
                    <a:pt x="214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449837" cy="48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28188" y="2049331"/>
            <a:ext cx="6828964" cy="2084551"/>
            <a:chOff x="0" y="0"/>
            <a:chExt cx="1057985" cy="3229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7985" cy="322952"/>
            </a:xfrm>
            <a:custGeom>
              <a:avLst/>
              <a:gdLst/>
              <a:ahLst/>
              <a:cxnLst/>
              <a:rect r="r" b="b" t="t" l="l"/>
              <a:pathLst>
                <a:path h="322952" w="1057985">
                  <a:moveTo>
                    <a:pt x="26075" y="0"/>
                  </a:moveTo>
                  <a:lnTo>
                    <a:pt x="1031910" y="0"/>
                  </a:lnTo>
                  <a:cubicBezTo>
                    <a:pt x="1046311" y="0"/>
                    <a:pt x="1057985" y="11674"/>
                    <a:pt x="1057985" y="26075"/>
                  </a:cubicBezTo>
                  <a:lnTo>
                    <a:pt x="1057985" y="296877"/>
                  </a:lnTo>
                  <a:cubicBezTo>
                    <a:pt x="1057985" y="311277"/>
                    <a:pt x="1046311" y="322952"/>
                    <a:pt x="1031910" y="322952"/>
                  </a:cubicBezTo>
                  <a:lnTo>
                    <a:pt x="26075" y="322952"/>
                  </a:lnTo>
                  <a:cubicBezTo>
                    <a:pt x="11674" y="322952"/>
                    <a:pt x="0" y="311277"/>
                    <a:pt x="0" y="296877"/>
                  </a:cubicBezTo>
                  <a:lnTo>
                    <a:pt x="0" y="26075"/>
                  </a:lnTo>
                  <a:cubicBezTo>
                    <a:pt x="0" y="11674"/>
                    <a:pt x="11674" y="0"/>
                    <a:pt x="2607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567" r="0" b="-656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347944" y="2839239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35870" y="2473116"/>
            <a:ext cx="729019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Converts feature maps into vectors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Softmax outputs class probabilities</a:t>
            </a:r>
          </a:p>
          <a:p>
            <a:pPr algn="just">
              <a:lnSpc>
                <a:spcPts val="3219"/>
              </a:lnSpc>
            </a:pPr>
            <a:r>
              <a:rPr lang="en-US" sz="22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(5 classes)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78574" y="2839239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70305" y="4625035"/>
            <a:ext cx="11565097" cy="1977887"/>
            <a:chOff x="0" y="0"/>
            <a:chExt cx="2379650" cy="406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9650" cy="406973"/>
            </a:xfrm>
            <a:custGeom>
              <a:avLst/>
              <a:gdLst/>
              <a:ahLst/>
              <a:cxnLst/>
              <a:rect r="r" b="b" t="t" l="l"/>
              <a:pathLst>
                <a:path h="406973" w="2379650">
                  <a:moveTo>
                    <a:pt x="13075" y="0"/>
                  </a:moveTo>
                  <a:lnTo>
                    <a:pt x="2366575" y="0"/>
                  </a:lnTo>
                  <a:cubicBezTo>
                    <a:pt x="2370043" y="0"/>
                    <a:pt x="2373368" y="1378"/>
                    <a:pt x="2375820" y="3829"/>
                  </a:cubicBezTo>
                  <a:cubicBezTo>
                    <a:pt x="2378272" y="6281"/>
                    <a:pt x="2379650" y="9607"/>
                    <a:pt x="2379650" y="13075"/>
                  </a:cubicBezTo>
                  <a:lnTo>
                    <a:pt x="2379650" y="393898"/>
                  </a:lnTo>
                  <a:cubicBezTo>
                    <a:pt x="2379650" y="397366"/>
                    <a:pt x="2378272" y="400691"/>
                    <a:pt x="2375820" y="403143"/>
                  </a:cubicBezTo>
                  <a:cubicBezTo>
                    <a:pt x="2373368" y="405595"/>
                    <a:pt x="2370043" y="406973"/>
                    <a:pt x="2366575" y="406973"/>
                  </a:cubicBezTo>
                  <a:lnTo>
                    <a:pt x="13075" y="406973"/>
                  </a:lnTo>
                  <a:cubicBezTo>
                    <a:pt x="9607" y="406973"/>
                    <a:pt x="6281" y="405595"/>
                    <a:pt x="3829" y="403143"/>
                  </a:cubicBezTo>
                  <a:cubicBezTo>
                    <a:pt x="1378" y="400691"/>
                    <a:pt x="0" y="397366"/>
                    <a:pt x="0" y="393898"/>
                  </a:cubicBezTo>
                  <a:lnTo>
                    <a:pt x="0" y="13075"/>
                  </a:lnTo>
                  <a:cubicBezTo>
                    <a:pt x="0" y="9607"/>
                    <a:pt x="1378" y="6281"/>
                    <a:pt x="3829" y="3829"/>
                  </a:cubicBezTo>
                  <a:cubicBezTo>
                    <a:pt x="6281" y="1378"/>
                    <a:pt x="9607" y="0"/>
                    <a:pt x="130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379650" cy="41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02224" y="5433035"/>
            <a:ext cx="11301259" cy="946480"/>
            <a:chOff x="0" y="0"/>
            <a:chExt cx="1750861" cy="1466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50861" cy="146635"/>
            </a:xfrm>
            <a:custGeom>
              <a:avLst/>
              <a:gdLst/>
              <a:ahLst/>
              <a:cxnLst/>
              <a:rect r="r" b="b" t="t" l="l"/>
              <a:pathLst>
                <a:path h="146635" w="1750861">
                  <a:moveTo>
                    <a:pt x="15756" y="0"/>
                  </a:moveTo>
                  <a:lnTo>
                    <a:pt x="1735105" y="0"/>
                  </a:lnTo>
                  <a:cubicBezTo>
                    <a:pt x="1743807" y="0"/>
                    <a:pt x="1750861" y="7054"/>
                    <a:pt x="1750861" y="15756"/>
                  </a:cubicBezTo>
                  <a:lnTo>
                    <a:pt x="1750861" y="130878"/>
                  </a:lnTo>
                  <a:cubicBezTo>
                    <a:pt x="1750861" y="139580"/>
                    <a:pt x="1743807" y="146635"/>
                    <a:pt x="1735105" y="146635"/>
                  </a:cubicBezTo>
                  <a:lnTo>
                    <a:pt x="15756" y="146635"/>
                  </a:lnTo>
                  <a:cubicBezTo>
                    <a:pt x="7054" y="146635"/>
                    <a:pt x="0" y="139580"/>
                    <a:pt x="0" y="130878"/>
                  </a:cubicBezTo>
                  <a:lnTo>
                    <a:pt x="0" y="15756"/>
                  </a:lnTo>
                  <a:cubicBezTo>
                    <a:pt x="0" y="7054"/>
                    <a:pt x="7054" y="0"/>
                    <a:pt x="1575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352634" y="5361611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09930" y="4927317"/>
            <a:ext cx="4979569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Adam optimizer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Correct loss function for multi-class classification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83321" y="4772635"/>
            <a:ext cx="219545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Compilation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70305" y="6872052"/>
            <a:ext cx="16947391" cy="2059233"/>
            <a:chOff x="0" y="0"/>
            <a:chExt cx="22596521" cy="2745644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11755237" y="1477810"/>
              <a:ext cx="10841284" cy="1267834"/>
              <a:chOff x="0" y="0"/>
              <a:chExt cx="1673038" cy="19565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73038" cy="195653"/>
              </a:xfrm>
              <a:custGeom>
                <a:avLst/>
                <a:gdLst/>
                <a:ahLst/>
                <a:cxnLst/>
                <a:rect r="r" b="b" t="t" l="l"/>
                <a:pathLst>
                  <a:path h="195653" w="1673038">
                    <a:moveTo>
                      <a:pt x="18597" y="0"/>
                    </a:moveTo>
                    <a:lnTo>
                      <a:pt x="1654441" y="0"/>
                    </a:lnTo>
                    <a:cubicBezTo>
                      <a:pt x="1659373" y="0"/>
                      <a:pt x="1664103" y="1959"/>
                      <a:pt x="1667591" y="5447"/>
                    </a:cubicBezTo>
                    <a:cubicBezTo>
                      <a:pt x="1671078" y="8934"/>
                      <a:pt x="1673038" y="13665"/>
                      <a:pt x="1673038" y="18597"/>
                    </a:cubicBezTo>
                    <a:lnTo>
                      <a:pt x="1673038" y="177057"/>
                    </a:lnTo>
                    <a:cubicBezTo>
                      <a:pt x="1673038" y="181989"/>
                      <a:pt x="1671078" y="186719"/>
                      <a:pt x="1667591" y="190207"/>
                    </a:cubicBezTo>
                    <a:cubicBezTo>
                      <a:pt x="1664103" y="193694"/>
                      <a:pt x="1659373" y="195653"/>
                      <a:pt x="1654441" y="195653"/>
                    </a:cubicBezTo>
                    <a:lnTo>
                      <a:pt x="18597" y="195653"/>
                    </a:lnTo>
                    <a:cubicBezTo>
                      <a:pt x="13665" y="195653"/>
                      <a:pt x="8934" y="193694"/>
                      <a:pt x="5447" y="190207"/>
                    </a:cubicBezTo>
                    <a:cubicBezTo>
                      <a:pt x="1959" y="186719"/>
                      <a:pt x="0" y="181989"/>
                      <a:pt x="0" y="177057"/>
                    </a:cubicBezTo>
                    <a:lnTo>
                      <a:pt x="0" y="18597"/>
                    </a:lnTo>
                    <a:cubicBezTo>
                      <a:pt x="0" y="13665"/>
                      <a:pt x="1959" y="8934"/>
                      <a:pt x="5447" y="5447"/>
                    </a:cubicBezTo>
                    <a:cubicBezTo>
                      <a:pt x="8934" y="1959"/>
                      <a:pt x="13665" y="0"/>
                      <a:pt x="1859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DA2A2">
                      <a:alpha val="70000"/>
                    </a:srgbClr>
                  </a:gs>
                  <a:gs pos="25000">
                    <a:srgbClr val="FABDBD">
                      <a:alpha val="70000"/>
                    </a:srgbClr>
                  </a:gs>
                  <a:gs pos="50000">
                    <a:srgbClr val="FFCFCE">
                      <a:alpha val="70000"/>
                    </a:srgbClr>
                  </a:gs>
                  <a:gs pos="75000">
                    <a:srgbClr val="FABDBD">
                      <a:alpha val="70000"/>
                    </a:srgbClr>
                  </a:gs>
                  <a:gs pos="100000">
                    <a:srgbClr val="DDA2A2">
                      <a:alpha val="70000"/>
                    </a:srgbClr>
                  </a:gs>
                </a:gsLst>
                <a:lin ang="0"/>
              </a:gra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1673038" cy="2051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4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9834399" y="-38100"/>
              <a:ext cx="2927276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b="true" sz="2499" u="sng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Output</a:t>
              </a:r>
            </a:p>
          </p:txBody>
        </p:sp>
        <p:sp>
          <p:nvSpPr>
            <p:cNvPr name="AutoShape 41" id="41"/>
            <p:cNvSpPr/>
            <p:nvPr/>
          </p:nvSpPr>
          <p:spPr>
            <a:xfrm>
              <a:off x="11298037" y="644855"/>
              <a:ext cx="0" cy="26269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10136291" y="894845"/>
              <a:ext cx="232349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5400000">
              <a:off x="12235872" y="796178"/>
              <a:ext cx="476395" cy="625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2976" spc="-163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→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5400000">
              <a:off x="9908878" y="796178"/>
              <a:ext cx="476395" cy="625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2976" spc="-163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→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0" y="1477810"/>
              <a:ext cx="10841284" cy="1267834"/>
              <a:chOff x="0" y="0"/>
              <a:chExt cx="1673038" cy="19565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673038" cy="195653"/>
              </a:xfrm>
              <a:custGeom>
                <a:avLst/>
                <a:gdLst/>
                <a:ahLst/>
                <a:cxnLst/>
                <a:rect r="r" b="b" t="t" l="l"/>
                <a:pathLst>
                  <a:path h="195653" w="1673038">
                    <a:moveTo>
                      <a:pt x="18597" y="0"/>
                    </a:moveTo>
                    <a:lnTo>
                      <a:pt x="1654441" y="0"/>
                    </a:lnTo>
                    <a:cubicBezTo>
                      <a:pt x="1659373" y="0"/>
                      <a:pt x="1664103" y="1959"/>
                      <a:pt x="1667591" y="5447"/>
                    </a:cubicBezTo>
                    <a:cubicBezTo>
                      <a:pt x="1671078" y="8934"/>
                      <a:pt x="1673038" y="13665"/>
                      <a:pt x="1673038" y="18597"/>
                    </a:cubicBezTo>
                    <a:lnTo>
                      <a:pt x="1673038" y="177057"/>
                    </a:lnTo>
                    <a:cubicBezTo>
                      <a:pt x="1673038" y="181989"/>
                      <a:pt x="1671078" y="186719"/>
                      <a:pt x="1667591" y="190207"/>
                    </a:cubicBezTo>
                    <a:cubicBezTo>
                      <a:pt x="1664103" y="193694"/>
                      <a:pt x="1659373" y="195653"/>
                      <a:pt x="1654441" y="195653"/>
                    </a:cubicBezTo>
                    <a:lnTo>
                      <a:pt x="18597" y="195653"/>
                    </a:lnTo>
                    <a:cubicBezTo>
                      <a:pt x="13665" y="195653"/>
                      <a:pt x="8934" y="193694"/>
                      <a:pt x="5447" y="190207"/>
                    </a:cubicBezTo>
                    <a:cubicBezTo>
                      <a:pt x="1959" y="186719"/>
                      <a:pt x="0" y="181989"/>
                      <a:pt x="0" y="177057"/>
                    </a:cubicBezTo>
                    <a:lnTo>
                      <a:pt x="0" y="18597"/>
                    </a:lnTo>
                    <a:cubicBezTo>
                      <a:pt x="0" y="13665"/>
                      <a:pt x="1959" y="8934"/>
                      <a:pt x="5447" y="5447"/>
                    </a:cubicBezTo>
                    <a:cubicBezTo>
                      <a:pt x="8934" y="1959"/>
                      <a:pt x="13665" y="0"/>
                      <a:pt x="1859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DA2A2">
                      <a:alpha val="70000"/>
                    </a:srgbClr>
                  </a:gs>
                  <a:gs pos="25000">
                    <a:srgbClr val="FABDBD">
                      <a:alpha val="70000"/>
                    </a:srgbClr>
                  </a:gs>
                  <a:gs pos="50000">
                    <a:srgbClr val="FFCFCE">
                      <a:alpha val="70000"/>
                    </a:srgbClr>
                  </a:gs>
                  <a:gs pos="75000">
                    <a:srgbClr val="FABDBD">
                      <a:alpha val="70000"/>
                    </a:srgbClr>
                  </a:gs>
                  <a:gs pos="100000">
                    <a:srgbClr val="DDA2A2">
                      <a:alpha val="70000"/>
                    </a:srgbClr>
                  </a:gs>
                </a:gsLst>
                <a:lin ang="0"/>
              </a:gra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673038" cy="2051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4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822089" y="1782028"/>
              <a:ext cx="9197107" cy="613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3.69 million trainable parameters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1910356" y="1781315"/>
              <a:ext cx="10531045" cy="613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 summary confirms correct layer flow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11244" y="4318857"/>
            <a:ext cx="5262406" cy="4397952"/>
            <a:chOff x="0" y="0"/>
            <a:chExt cx="7016542" cy="586393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016542" cy="5863937"/>
              <a:chOff x="0" y="0"/>
              <a:chExt cx="1200662" cy="10034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00662" cy="1003429"/>
              </a:xfrm>
              <a:custGeom>
                <a:avLst/>
                <a:gdLst/>
                <a:ahLst/>
                <a:cxnLst/>
                <a:rect r="r" b="b" t="t" l="l"/>
                <a:pathLst>
                  <a:path h="1003429" w="1200662">
                    <a:moveTo>
                      <a:pt x="27381" y="0"/>
                    </a:moveTo>
                    <a:lnTo>
                      <a:pt x="1173281" y="0"/>
                    </a:lnTo>
                    <a:cubicBezTo>
                      <a:pt x="1180543" y="0"/>
                      <a:pt x="1187507" y="2885"/>
                      <a:pt x="1192642" y="8020"/>
                    </a:cubicBezTo>
                    <a:cubicBezTo>
                      <a:pt x="1197777" y="13155"/>
                      <a:pt x="1200662" y="20119"/>
                      <a:pt x="1200662" y="27381"/>
                    </a:cubicBezTo>
                    <a:lnTo>
                      <a:pt x="1200662" y="976049"/>
                    </a:lnTo>
                    <a:cubicBezTo>
                      <a:pt x="1200662" y="983311"/>
                      <a:pt x="1197777" y="990275"/>
                      <a:pt x="1192642" y="995410"/>
                    </a:cubicBezTo>
                    <a:cubicBezTo>
                      <a:pt x="1187507" y="1000545"/>
                      <a:pt x="1180543" y="1003429"/>
                      <a:pt x="1173281" y="1003429"/>
                    </a:cubicBezTo>
                    <a:lnTo>
                      <a:pt x="27381" y="1003429"/>
                    </a:lnTo>
                    <a:cubicBezTo>
                      <a:pt x="20119" y="1003429"/>
                      <a:pt x="13155" y="1000545"/>
                      <a:pt x="8020" y="995410"/>
                    </a:cubicBezTo>
                    <a:cubicBezTo>
                      <a:pt x="2885" y="990275"/>
                      <a:pt x="0" y="983311"/>
                      <a:pt x="0" y="976049"/>
                    </a:cubicBezTo>
                    <a:lnTo>
                      <a:pt x="0" y="27381"/>
                    </a:lnTo>
                    <a:cubicBezTo>
                      <a:pt x="0" y="20119"/>
                      <a:pt x="2885" y="13155"/>
                      <a:pt x="8020" y="8020"/>
                    </a:cubicBezTo>
                    <a:cubicBezTo>
                      <a:pt x="13155" y="2885"/>
                      <a:pt x="20119" y="0"/>
                      <a:pt x="2738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DA2A2">
                      <a:alpha val="70000"/>
                    </a:srgbClr>
                  </a:gs>
                  <a:gs pos="25000">
                    <a:srgbClr val="FABDBD">
                      <a:alpha val="70000"/>
                    </a:srgbClr>
                  </a:gs>
                  <a:gs pos="50000">
                    <a:srgbClr val="FFCFCE">
                      <a:alpha val="70000"/>
                    </a:srgbClr>
                  </a:gs>
                  <a:gs pos="75000">
                    <a:srgbClr val="FABDBD">
                      <a:alpha val="70000"/>
                    </a:srgbClr>
                  </a:gs>
                  <a:gs pos="100000">
                    <a:srgbClr val="DDA2A2">
                      <a:alpha val="70000"/>
                    </a:srgbClr>
                  </a:gs>
                </a:gsLst>
                <a:lin ang="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200662" cy="1012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4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97210" y="269560"/>
              <a:ext cx="6422122" cy="5324817"/>
            </a:xfrm>
            <a:custGeom>
              <a:avLst/>
              <a:gdLst/>
              <a:ahLst/>
              <a:cxnLst/>
              <a:rect r="r" b="b" t="t" l="l"/>
              <a:pathLst>
                <a:path h="5324817" w="6422122">
                  <a:moveTo>
                    <a:pt x="0" y="0"/>
                  </a:moveTo>
                  <a:lnTo>
                    <a:pt x="6422122" y="0"/>
                  </a:lnTo>
                  <a:lnTo>
                    <a:pt x="6422122" y="5324817"/>
                  </a:lnTo>
                  <a:lnTo>
                    <a:pt x="0" y="5324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926823"/>
            <a:ext cx="10929703" cy="2096759"/>
            <a:chOff x="0" y="0"/>
            <a:chExt cx="2248910" cy="4314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8910" cy="431432"/>
            </a:xfrm>
            <a:custGeom>
              <a:avLst/>
              <a:gdLst/>
              <a:ahLst/>
              <a:cxnLst/>
              <a:rect r="r" b="b" t="t" l="l"/>
              <a:pathLst>
                <a:path h="431432" w="2248910">
                  <a:moveTo>
                    <a:pt x="13835" y="0"/>
                  </a:moveTo>
                  <a:lnTo>
                    <a:pt x="2235075" y="0"/>
                  </a:lnTo>
                  <a:cubicBezTo>
                    <a:pt x="2238745" y="0"/>
                    <a:pt x="2242263" y="1458"/>
                    <a:pt x="2244858" y="4052"/>
                  </a:cubicBezTo>
                  <a:cubicBezTo>
                    <a:pt x="2247452" y="6647"/>
                    <a:pt x="2248910" y="10166"/>
                    <a:pt x="2248910" y="13835"/>
                  </a:cubicBezTo>
                  <a:lnTo>
                    <a:pt x="2248910" y="417597"/>
                  </a:lnTo>
                  <a:cubicBezTo>
                    <a:pt x="2248910" y="421266"/>
                    <a:pt x="2247452" y="424785"/>
                    <a:pt x="2244858" y="427380"/>
                  </a:cubicBezTo>
                  <a:cubicBezTo>
                    <a:pt x="2242263" y="429974"/>
                    <a:pt x="2238745" y="431432"/>
                    <a:pt x="2235075" y="431432"/>
                  </a:cubicBezTo>
                  <a:lnTo>
                    <a:pt x="13835" y="431432"/>
                  </a:lnTo>
                  <a:cubicBezTo>
                    <a:pt x="10166" y="431432"/>
                    <a:pt x="6647" y="429974"/>
                    <a:pt x="4052" y="427380"/>
                  </a:cubicBezTo>
                  <a:cubicBezTo>
                    <a:pt x="1458" y="424785"/>
                    <a:pt x="0" y="421266"/>
                    <a:pt x="0" y="417597"/>
                  </a:cubicBezTo>
                  <a:lnTo>
                    <a:pt x="0" y="13835"/>
                  </a:lnTo>
                  <a:cubicBezTo>
                    <a:pt x="0" y="10166"/>
                    <a:pt x="1458" y="6647"/>
                    <a:pt x="4052" y="4052"/>
                  </a:cubicBezTo>
                  <a:cubicBezTo>
                    <a:pt x="6647" y="1458"/>
                    <a:pt x="10166" y="0"/>
                    <a:pt x="138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248910" cy="44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98651" y="2672998"/>
            <a:ext cx="9435840" cy="652352"/>
            <a:chOff x="0" y="0"/>
            <a:chExt cx="1647937" cy="1139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7937" cy="113931"/>
            </a:xfrm>
            <a:custGeom>
              <a:avLst/>
              <a:gdLst/>
              <a:ahLst/>
              <a:cxnLst/>
              <a:rect r="r" b="b" t="t" l="l"/>
              <a:pathLst>
                <a:path h="113931" w="1647937">
                  <a:moveTo>
                    <a:pt x="18871" y="0"/>
                  </a:moveTo>
                  <a:lnTo>
                    <a:pt x="1629066" y="0"/>
                  </a:lnTo>
                  <a:cubicBezTo>
                    <a:pt x="1639488" y="0"/>
                    <a:pt x="1647937" y="8449"/>
                    <a:pt x="1647937" y="18871"/>
                  </a:cubicBezTo>
                  <a:lnTo>
                    <a:pt x="1647937" y="95060"/>
                  </a:lnTo>
                  <a:cubicBezTo>
                    <a:pt x="1647937" y="105482"/>
                    <a:pt x="1639488" y="113931"/>
                    <a:pt x="1629066" y="113931"/>
                  </a:cubicBezTo>
                  <a:lnTo>
                    <a:pt x="18871" y="113931"/>
                  </a:lnTo>
                  <a:cubicBezTo>
                    <a:pt x="13866" y="113931"/>
                    <a:pt x="9066" y="111943"/>
                    <a:pt x="5527" y="108404"/>
                  </a:cubicBezTo>
                  <a:cubicBezTo>
                    <a:pt x="1988" y="104865"/>
                    <a:pt x="0" y="100065"/>
                    <a:pt x="0" y="95060"/>
                  </a:cubicBezTo>
                  <a:lnTo>
                    <a:pt x="0" y="18871"/>
                  </a:lnTo>
                  <a:cubicBezTo>
                    <a:pt x="0" y="8449"/>
                    <a:pt x="8449" y="0"/>
                    <a:pt x="18871" y="0"/>
                  </a:cubicBezTo>
                  <a:close/>
                </a:path>
              </a:pathLst>
            </a:custGeom>
            <a:blipFill>
              <a:blip r:embed="rId5"/>
              <a:stretch>
                <a:fillRect l="-16191" t="-22106" r="0" b="-22106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14350" y="165100"/>
            <a:ext cx="1725930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TRAINING &amp; PERFORMANCE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53009" y="2069295"/>
            <a:ext cx="35271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Training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4158" y="3449176"/>
            <a:ext cx="409359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Trained for 20 epochs,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19710" y="2069295"/>
            <a:ext cx="35271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Results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1188" y="2624945"/>
            <a:ext cx="5522462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accuracy → 100%</a:t>
            </a:r>
          </a:p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 accuracy → 100%</a:t>
            </a:r>
          </a:p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→ approaches 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78865" y="3449176"/>
            <a:ext cx="634062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 data monitors overfitting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14350" y="4318857"/>
            <a:ext cx="6411089" cy="2476428"/>
            <a:chOff x="0" y="0"/>
            <a:chExt cx="1481493" cy="5722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81493" cy="572260"/>
            </a:xfrm>
            <a:custGeom>
              <a:avLst/>
              <a:gdLst/>
              <a:ahLst/>
              <a:cxnLst/>
              <a:rect r="r" b="b" t="t" l="l"/>
              <a:pathLst>
                <a:path h="572260" w="1481493">
                  <a:moveTo>
                    <a:pt x="23586" y="0"/>
                  </a:moveTo>
                  <a:lnTo>
                    <a:pt x="1457907" y="0"/>
                  </a:lnTo>
                  <a:cubicBezTo>
                    <a:pt x="1464162" y="0"/>
                    <a:pt x="1470162" y="2485"/>
                    <a:pt x="1474585" y="6908"/>
                  </a:cubicBezTo>
                  <a:cubicBezTo>
                    <a:pt x="1479008" y="11331"/>
                    <a:pt x="1481493" y="17330"/>
                    <a:pt x="1481493" y="23586"/>
                  </a:cubicBezTo>
                  <a:lnTo>
                    <a:pt x="1481493" y="548674"/>
                  </a:lnTo>
                  <a:cubicBezTo>
                    <a:pt x="1481493" y="554930"/>
                    <a:pt x="1479008" y="560929"/>
                    <a:pt x="1474585" y="565352"/>
                  </a:cubicBezTo>
                  <a:cubicBezTo>
                    <a:pt x="1470162" y="569775"/>
                    <a:pt x="1464162" y="572260"/>
                    <a:pt x="1457907" y="572260"/>
                  </a:cubicBezTo>
                  <a:lnTo>
                    <a:pt x="23586" y="572260"/>
                  </a:lnTo>
                  <a:cubicBezTo>
                    <a:pt x="17330" y="572260"/>
                    <a:pt x="11331" y="569775"/>
                    <a:pt x="6908" y="565352"/>
                  </a:cubicBezTo>
                  <a:cubicBezTo>
                    <a:pt x="2485" y="560929"/>
                    <a:pt x="0" y="554930"/>
                    <a:pt x="0" y="548674"/>
                  </a:cubicBezTo>
                  <a:lnTo>
                    <a:pt x="0" y="23586"/>
                  </a:lnTo>
                  <a:cubicBezTo>
                    <a:pt x="0" y="17330"/>
                    <a:pt x="2485" y="11331"/>
                    <a:pt x="6908" y="6908"/>
                  </a:cubicBezTo>
                  <a:cubicBezTo>
                    <a:pt x="11331" y="2485"/>
                    <a:pt x="17330" y="0"/>
                    <a:pt x="235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481493" cy="581785"/>
            </a:xfrm>
            <a:prstGeom prst="rect">
              <a:avLst/>
            </a:prstGeom>
          </p:spPr>
          <p:txBody>
            <a:bodyPr anchor="ctr" rtlCol="false" tIns="45233" lIns="45233" bIns="45233" rIns="45233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7095" y="4927556"/>
            <a:ext cx="5745599" cy="1661150"/>
            <a:chOff x="0" y="0"/>
            <a:chExt cx="1089404" cy="3149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9404" cy="314965"/>
            </a:xfrm>
            <a:custGeom>
              <a:avLst/>
              <a:gdLst/>
              <a:ahLst/>
              <a:cxnLst/>
              <a:rect r="r" b="b" t="t" l="l"/>
              <a:pathLst>
                <a:path h="314965" w="1089404">
                  <a:moveTo>
                    <a:pt x="30991" y="0"/>
                  </a:moveTo>
                  <a:lnTo>
                    <a:pt x="1058412" y="0"/>
                  </a:lnTo>
                  <a:cubicBezTo>
                    <a:pt x="1066632" y="0"/>
                    <a:pt x="1074514" y="3265"/>
                    <a:pt x="1080326" y="9077"/>
                  </a:cubicBezTo>
                  <a:cubicBezTo>
                    <a:pt x="1086139" y="14889"/>
                    <a:pt x="1089404" y="22772"/>
                    <a:pt x="1089404" y="30991"/>
                  </a:cubicBezTo>
                  <a:lnTo>
                    <a:pt x="1089404" y="283974"/>
                  </a:lnTo>
                  <a:cubicBezTo>
                    <a:pt x="1089404" y="292193"/>
                    <a:pt x="1086139" y="300076"/>
                    <a:pt x="1080326" y="305888"/>
                  </a:cubicBezTo>
                  <a:cubicBezTo>
                    <a:pt x="1074514" y="311700"/>
                    <a:pt x="1066632" y="314965"/>
                    <a:pt x="1058412" y="314965"/>
                  </a:cubicBezTo>
                  <a:lnTo>
                    <a:pt x="30991" y="314965"/>
                  </a:lnTo>
                  <a:cubicBezTo>
                    <a:pt x="22772" y="314965"/>
                    <a:pt x="14889" y="311700"/>
                    <a:pt x="9077" y="305888"/>
                  </a:cubicBezTo>
                  <a:cubicBezTo>
                    <a:pt x="3265" y="300076"/>
                    <a:pt x="0" y="292193"/>
                    <a:pt x="0" y="283974"/>
                  </a:cubicBezTo>
                  <a:lnTo>
                    <a:pt x="0" y="30991"/>
                  </a:lnTo>
                  <a:cubicBezTo>
                    <a:pt x="0" y="22772"/>
                    <a:pt x="3265" y="14889"/>
                    <a:pt x="9077" y="9077"/>
                  </a:cubicBezTo>
                  <a:cubicBezTo>
                    <a:pt x="14889" y="3265"/>
                    <a:pt x="22772" y="0"/>
                    <a:pt x="30991" y="0"/>
                  </a:cubicBezTo>
                  <a:close/>
                </a:path>
              </a:pathLst>
            </a:custGeom>
            <a:blipFill>
              <a:blip r:embed="rId6"/>
              <a:stretch>
                <a:fillRect l="-5801" t="-16913" r="-2609" b="-6636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79620" y="4927556"/>
            <a:ext cx="3667726" cy="105460"/>
            <a:chOff x="0" y="0"/>
            <a:chExt cx="923612" cy="265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3612" cy="26557"/>
            </a:xfrm>
            <a:custGeom>
              <a:avLst/>
              <a:gdLst/>
              <a:ahLst/>
              <a:cxnLst/>
              <a:rect r="r" b="b" t="t" l="l"/>
              <a:pathLst>
                <a:path h="26557" w="923612">
                  <a:moveTo>
                    <a:pt x="13278" y="0"/>
                  </a:moveTo>
                  <a:lnTo>
                    <a:pt x="910333" y="0"/>
                  </a:lnTo>
                  <a:cubicBezTo>
                    <a:pt x="913855" y="0"/>
                    <a:pt x="917232" y="1399"/>
                    <a:pt x="919722" y="3889"/>
                  </a:cubicBezTo>
                  <a:cubicBezTo>
                    <a:pt x="922213" y="6379"/>
                    <a:pt x="923612" y="9757"/>
                    <a:pt x="923612" y="13278"/>
                  </a:cubicBezTo>
                  <a:lnTo>
                    <a:pt x="923612" y="13278"/>
                  </a:lnTo>
                  <a:cubicBezTo>
                    <a:pt x="923612" y="20612"/>
                    <a:pt x="917667" y="26557"/>
                    <a:pt x="910333" y="26557"/>
                  </a:cubicBezTo>
                  <a:lnTo>
                    <a:pt x="13278" y="26557"/>
                  </a:lnTo>
                  <a:cubicBezTo>
                    <a:pt x="9757" y="26557"/>
                    <a:pt x="6379" y="25158"/>
                    <a:pt x="3889" y="22668"/>
                  </a:cubicBezTo>
                  <a:cubicBezTo>
                    <a:pt x="1399" y="20178"/>
                    <a:pt x="0" y="16800"/>
                    <a:pt x="0" y="13278"/>
                  </a:cubicBezTo>
                  <a:lnTo>
                    <a:pt x="0" y="13278"/>
                  </a:lnTo>
                  <a:cubicBezTo>
                    <a:pt x="0" y="9757"/>
                    <a:pt x="1399" y="6379"/>
                    <a:pt x="3889" y="3889"/>
                  </a:cubicBezTo>
                  <a:cubicBezTo>
                    <a:pt x="6379" y="1399"/>
                    <a:pt x="9757" y="0"/>
                    <a:pt x="13278" y="0"/>
                  </a:cubicBez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23612" cy="26557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4097" y="6483247"/>
            <a:ext cx="4889111" cy="105460"/>
            <a:chOff x="0" y="0"/>
            <a:chExt cx="1231182" cy="265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31182" cy="26557"/>
            </a:xfrm>
            <a:custGeom>
              <a:avLst/>
              <a:gdLst/>
              <a:ahLst/>
              <a:cxnLst/>
              <a:rect r="r" b="b" t="t" l="l"/>
              <a:pathLst>
                <a:path h="26557" w="1231182">
                  <a:moveTo>
                    <a:pt x="13278" y="0"/>
                  </a:moveTo>
                  <a:lnTo>
                    <a:pt x="1217904" y="0"/>
                  </a:lnTo>
                  <a:cubicBezTo>
                    <a:pt x="1221425" y="0"/>
                    <a:pt x="1224803" y="1399"/>
                    <a:pt x="1227293" y="3889"/>
                  </a:cubicBezTo>
                  <a:cubicBezTo>
                    <a:pt x="1229783" y="6379"/>
                    <a:pt x="1231182" y="9757"/>
                    <a:pt x="1231182" y="13278"/>
                  </a:cubicBezTo>
                  <a:lnTo>
                    <a:pt x="1231182" y="13278"/>
                  </a:lnTo>
                  <a:cubicBezTo>
                    <a:pt x="1231182" y="16800"/>
                    <a:pt x="1229783" y="20178"/>
                    <a:pt x="1227293" y="22668"/>
                  </a:cubicBezTo>
                  <a:cubicBezTo>
                    <a:pt x="1224803" y="25158"/>
                    <a:pt x="1221425" y="26557"/>
                    <a:pt x="1217904" y="26557"/>
                  </a:cubicBezTo>
                  <a:lnTo>
                    <a:pt x="13278" y="26557"/>
                  </a:lnTo>
                  <a:cubicBezTo>
                    <a:pt x="9757" y="26557"/>
                    <a:pt x="6379" y="25158"/>
                    <a:pt x="3889" y="22668"/>
                  </a:cubicBezTo>
                  <a:cubicBezTo>
                    <a:pt x="1399" y="20178"/>
                    <a:pt x="0" y="16800"/>
                    <a:pt x="0" y="13278"/>
                  </a:cubicBezTo>
                  <a:lnTo>
                    <a:pt x="0" y="13278"/>
                  </a:lnTo>
                  <a:cubicBezTo>
                    <a:pt x="0" y="9757"/>
                    <a:pt x="1399" y="6379"/>
                    <a:pt x="3889" y="3889"/>
                  </a:cubicBezTo>
                  <a:cubicBezTo>
                    <a:pt x="6379" y="1399"/>
                    <a:pt x="9757" y="0"/>
                    <a:pt x="13278" y="0"/>
                  </a:cubicBez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231182" cy="26557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46318" y="6166082"/>
            <a:ext cx="170253" cy="317165"/>
            <a:chOff x="0" y="0"/>
            <a:chExt cx="56670" cy="1055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670" cy="105570"/>
            </a:xfrm>
            <a:custGeom>
              <a:avLst/>
              <a:gdLst/>
              <a:ahLst/>
              <a:cxnLst/>
              <a:rect r="r" b="b" t="t" l="l"/>
              <a:pathLst>
                <a:path h="105570" w="56670">
                  <a:moveTo>
                    <a:pt x="0" y="0"/>
                  </a:moveTo>
                  <a:lnTo>
                    <a:pt x="56670" y="0"/>
                  </a:lnTo>
                  <a:lnTo>
                    <a:pt x="56670" y="105570"/>
                  </a:lnTo>
                  <a:lnTo>
                    <a:pt x="0" y="105570"/>
                  </a:ln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6670" cy="105570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778081" y="5758131"/>
            <a:ext cx="814613" cy="317165"/>
            <a:chOff x="0" y="0"/>
            <a:chExt cx="271149" cy="1055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1149" cy="105570"/>
            </a:xfrm>
            <a:custGeom>
              <a:avLst/>
              <a:gdLst/>
              <a:ahLst/>
              <a:cxnLst/>
              <a:rect r="r" b="b" t="t" l="l"/>
              <a:pathLst>
                <a:path h="105570" w="271149">
                  <a:moveTo>
                    <a:pt x="0" y="0"/>
                  </a:moveTo>
                  <a:lnTo>
                    <a:pt x="271149" y="0"/>
                  </a:lnTo>
                  <a:lnTo>
                    <a:pt x="271149" y="105570"/>
                  </a:lnTo>
                  <a:lnTo>
                    <a:pt x="0" y="105570"/>
                  </a:ln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71149" cy="105570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778081" y="5419227"/>
            <a:ext cx="814613" cy="317165"/>
            <a:chOff x="0" y="0"/>
            <a:chExt cx="271149" cy="1055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1149" cy="105570"/>
            </a:xfrm>
            <a:custGeom>
              <a:avLst/>
              <a:gdLst/>
              <a:ahLst/>
              <a:cxnLst/>
              <a:rect r="r" b="b" t="t" l="l"/>
              <a:pathLst>
                <a:path h="105570" w="271149">
                  <a:moveTo>
                    <a:pt x="0" y="0"/>
                  </a:moveTo>
                  <a:lnTo>
                    <a:pt x="271149" y="0"/>
                  </a:lnTo>
                  <a:lnTo>
                    <a:pt x="271149" y="105570"/>
                  </a:lnTo>
                  <a:lnTo>
                    <a:pt x="0" y="105570"/>
                  </a:ln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71149" cy="105570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778081" y="5102062"/>
            <a:ext cx="814613" cy="317165"/>
            <a:chOff x="0" y="0"/>
            <a:chExt cx="271149" cy="1055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1149" cy="105570"/>
            </a:xfrm>
            <a:custGeom>
              <a:avLst/>
              <a:gdLst/>
              <a:ahLst/>
              <a:cxnLst/>
              <a:rect r="r" b="b" t="t" l="l"/>
              <a:pathLst>
                <a:path h="105570" w="271149">
                  <a:moveTo>
                    <a:pt x="0" y="0"/>
                  </a:moveTo>
                  <a:lnTo>
                    <a:pt x="271149" y="0"/>
                  </a:lnTo>
                  <a:lnTo>
                    <a:pt x="271149" y="105570"/>
                  </a:lnTo>
                  <a:lnTo>
                    <a:pt x="0" y="105570"/>
                  </a:ln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71149" cy="105570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679368" y="5033016"/>
            <a:ext cx="814613" cy="317165"/>
            <a:chOff x="0" y="0"/>
            <a:chExt cx="271149" cy="1055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1149" cy="105570"/>
            </a:xfrm>
            <a:custGeom>
              <a:avLst/>
              <a:gdLst/>
              <a:ahLst/>
              <a:cxnLst/>
              <a:rect r="r" b="b" t="t" l="l"/>
              <a:pathLst>
                <a:path h="105570" w="271149">
                  <a:moveTo>
                    <a:pt x="0" y="0"/>
                  </a:moveTo>
                  <a:lnTo>
                    <a:pt x="271149" y="0"/>
                  </a:lnTo>
                  <a:lnTo>
                    <a:pt x="271149" y="105570"/>
                  </a:lnTo>
                  <a:lnTo>
                    <a:pt x="0" y="105570"/>
                  </a:ln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71149" cy="105570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196348" y="5051569"/>
            <a:ext cx="814613" cy="317165"/>
            <a:chOff x="0" y="0"/>
            <a:chExt cx="271149" cy="1055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1149" cy="105570"/>
            </a:xfrm>
            <a:custGeom>
              <a:avLst/>
              <a:gdLst/>
              <a:ahLst/>
              <a:cxnLst/>
              <a:rect r="r" b="b" t="t" l="l"/>
              <a:pathLst>
                <a:path h="105570" w="271149">
                  <a:moveTo>
                    <a:pt x="0" y="0"/>
                  </a:moveTo>
                  <a:lnTo>
                    <a:pt x="271149" y="0"/>
                  </a:lnTo>
                  <a:lnTo>
                    <a:pt x="271149" y="105570"/>
                  </a:lnTo>
                  <a:lnTo>
                    <a:pt x="0" y="105570"/>
                  </a:ln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71149" cy="105570"/>
            </a:xfrm>
            <a:prstGeom prst="rect">
              <a:avLst/>
            </a:prstGeom>
          </p:spPr>
          <p:txBody>
            <a:bodyPr anchor="ctr" rtlCol="false" tIns="41508" lIns="41508" bIns="41508" rIns="41508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554158" y="4397125"/>
            <a:ext cx="433147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&amp; Accuracy Graph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214682" y="4318857"/>
            <a:ext cx="5007320" cy="4425149"/>
            <a:chOff x="0" y="0"/>
            <a:chExt cx="1102353" cy="97418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2353" cy="974189"/>
            </a:xfrm>
            <a:custGeom>
              <a:avLst/>
              <a:gdLst/>
              <a:ahLst/>
              <a:cxnLst/>
              <a:rect r="r" b="b" t="t" l="l"/>
              <a:pathLst>
                <a:path h="974189" w="1102353">
                  <a:moveTo>
                    <a:pt x="30198" y="0"/>
                  </a:moveTo>
                  <a:lnTo>
                    <a:pt x="1072156" y="0"/>
                  </a:lnTo>
                  <a:cubicBezTo>
                    <a:pt x="1088833" y="0"/>
                    <a:pt x="1102353" y="13520"/>
                    <a:pt x="1102353" y="30198"/>
                  </a:cubicBezTo>
                  <a:lnTo>
                    <a:pt x="1102353" y="943992"/>
                  </a:lnTo>
                  <a:cubicBezTo>
                    <a:pt x="1102353" y="952001"/>
                    <a:pt x="1099172" y="959682"/>
                    <a:pt x="1093509" y="965345"/>
                  </a:cubicBezTo>
                  <a:cubicBezTo>
                    <a:pt x="1087846" y="971008"/>
                    <a:pt x="1080165" y="974189"/>
                    <a:pt x="1072156" y="974189"/>
                  </a:cubicBezTo>
                  <a:lnTo>
                    <a:pt x="30198" y="974189"/>
                  </a:lnTo>
                  <a:cubicBezTo>
                    <a:pt x="13520" y="974189"/>
                    <a:pt x="0" y="960670"/>
                    <a:pt x="0" y="943992"/>
                  </a:cubicBezTo>
                  <a:lnTo>
                    <a:pt x="0" y="30198"/>
                  </a:lnTo>
                  <a:cubicBezTo>
                    <a:pt x="0" y="22189"/>
                    <a:pt x="3182" y="14508"/>
                    <a:pt x="8845" y="8845"/>
                  </a:cubicBezTo>
                  <a:cubicBezTo>
                    <a:pt x="14508" y="3182"/>
                    <a:pt x="22189" y="0"/>
                    <a:pt x="301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102353" cy="983714"/>
            </a:xfrm>
            <a:prstGeom prst="rect">
              <a:avLst/>
            </a:prstGeom>
          </p:spPr>
          <p:txBody>
            <a:bodyPr anchor="ctr" rtlCol="false" tIns="47480" lIns="47480" bIns="47480" rIns="4748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286084" y="4397125"/>
            <a:ext cx="486451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 Interpretation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033715" y="4932661"/>
            <a:ext cx="5036507" cy="363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Loss decreases smoothly → good learning</a:t>
            </a:r>
          </a:p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Validation loss closely follows training loss → no overfitting</a:t>
            </a:r>
          </a:p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Accuracy increases steadily → model convergence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14350" y="6995309"/>
            <a:ext cx="486451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Observation: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14350" y="7527454"/>
            <a:ext cx="6411089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Model learned class features very effectively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Dataset is clean and well-structured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4350" y="1775313"/>
            <a:ext cx="6822690" cy="2558130"/>
            <a:chOff x="0" y="0"/>
            <a:chExt cx="1403846" cy="52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3846" cy="526364"/>
            </a:xfrm>
            <a:custGeom>
              <a:avLst/>
              <a:gdLst/>
              <a:ahLst/>
              <a:cxnLst/>
              <a:rect r="r" b="b" t="t" l="l"/>
              <a:pathLst>
                <a:path h="526364" w="1403846">
                  <a:moveTo>
                    <a:pt x="22163" y="0"/>
                  </a:moveTo>
                  <a:lnTo>
                    <a:pt x="1381683" y="0"/>
                  </a:lnTo>
                  <a:cubicBezTo>
                    <a:pt x="1387561" y="0"/>
                    <a:pt x="1393198" y="2335"/>
                    <a:pt x="1397354" y="6491"/>
                  </a:cubicBezTo>
                  <a:cubicBezTo>
                    <a:pt x="1401511" y="10648"/>
                    <a:pt x="1403846" y="16285"/>
                    <a:pt x="1403846" y="22163"/>
                  </a:cubicBezTo>
                  <a:lnTo>
                    <a:pt x="1403846" y="504202"/>
                  </a:lnTo>
                  <a:cubicBezTo>
                    <a:pt x="1403846" y="510079"/>
                    <a:pt x="1401511" y="515717"/>
                    <a:pt x="1397354" y="519873"/>
                  </a:cubicBezTo>
                  <a:cubicBezTo>
                    <a:pt x="1393198" y="524029"/>
                    <a:pt x="1387561" y="526364"/>
                    <a:pt x="1381683" y="526364"/>
                  </a:cubicBezTo>
                  <a:lnTo>
                    <a:pt x="22163" y="526364"/>
                  </a:lnTo>
                  <a:cubicBezTo>
                    <a:pt x="16285" y="526364"/>
                    <a:pt x="10648" y="524029"/>
                    <a:pt x="6491" y="519873"/>
                  </a:cubicBezTo>
                  <a:cubicBezTo>
                    <a:pt x="2335" y="515717"/>
                    <a:pt x="0" y="510079"/>
                    <a:pt x="0" y="504202"/>
                  </a:cubicBezTo>
                  <a:lnTo>
                    <a:pt x="0" y="22163"/>
                  </a:lnTo>
                  <a:cubicBezTo>
                    <a:pt x="0" y="16285"/>
                    <a:pt x="2335" y="10648"/>
                    <a:pt x="6491" y="6491"/>
                  </a:cubicBezTo>
                  <a:cubicBezTo>
                    <a:pt x="10648" y="2335"/>
                    <a:pt x="16285" y="0"/>
                    <a:pt x="221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03846" cy="53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8604" y="2828577"/>
            <a:ext cx="6454181" cy="961608"/>
            <a:chOff x="0" y="0"/>
            <a:chExt cx="999922" cy="148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922" cy="148978"/>
            </a:xfrm>
            <a:custGeom>
              <a:avLst/>
              <a:gdLst/>
              <a:ahLst/>
              <a:cxnLst/>
              <a:rect r="r" b="b" t="t" l="l"/>
              <a:pathLst>
                <a:path h="148978" w="999922">
                  <a:moveTo>
                    <a:pt x="27589" y="0"/>
                  </a:moveTo>
                  <a:lnTo>
                    <a:pt x="972333" y="0"/>
                  </a:lnTo>
                  <a:cubicBezTo>
                    <a:pt x="987570" y="0"/>
                    <a:pt x="999922" y="12352"/>
                    <a:pt x="999922" y="27589"/>
                  </a:cubicBezTo>
                  <a:lnTo>
                    <a:pt x="999922" y="121389"/>
                  </a:lnTo>
                  <a:cubicBezTo>
                    <a:pt x="999922" y="136626"/>
                    <a:pt x="987570" y="148978"/>
                    <a:pt x="972333" y="148978"/>
                  </a:cubicBezTo>
                  <a:lnTo>
                    <a:pt x="27589" y="148978"/>
                  </a:lnTo>
                  <a:cubicBezTo>
                    <a:pt x="20272" y="148978"/>
                    <a:pt x="13255" y="146072"/>
                    <a:pt x="8081" y="140898"/>
                  </a:cubicBezTo>
                  <a:cubicBezTo>
                    <a:pt x="2907" y="135724"/>
                    <a:pt x="0" y="128706"/>
                    <a:pt x="0" y="121389"/>
                  </a:cubicBezTo>
                  <a:lnTo>
                    <a:pt x="0" y="27589"/>
                  </a:lnTo>
                  <a:cubicBezTo>
                    <a:pt x="0" y="12352"/>
                    <a:pt x="12352" y="0"/>
                    <a:pt x="2758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84412" y="1775313"/>
            <a:ext cx="10200242" cy="2558130"/>
            <a:chOff x="0" y="0"/>
            <a:chExt cx="2098815" cy="5263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98815" cy="526364"/>
            </a:xfrm>
            <a:custGeom>
              <a:avLst/>
              <a:gdLst/>
              <a:ahLst/>
              <a:cxnLst/>
              <a:rect r="r" b="b" t="t" l="l"/>
              <a:pathLst>
                <a:path h="526364" w="2098815">
                  <a:moveTo>
                    <a:pt x="14824" y="0"/>
                  </a:moveTo>
                  <a:lnTo>
                    <a:pt x="2083991" y="0"/>
                  </a:lnTo>
                  <a:cubicBezTo>
                    <a:pt x="2092178" y="0"/>
                    <a:pt x="2098815" y="6637"/>
                    <a:pt x="2098815" y="14824"/>
                  </a:cubicBezTo>
                  <a:lnTo>
                    <a:pt x="2098815" y="511540"/>
                  </a:lnTo>
                  <a:cubicBezTo>
                    <a:pt x="2098815" y="519727"/>
                    <a:pt x="2092178" y="526364"/>
                    <a:pt x="2083991" y="526364"/>
                  </a:cubicBezTo>
                  <a:lnTo>
                    <a:pt x="14824" y="526364"/>
                  </a:lnTo>
                  <a:cubicBezTo>
                    <a:pt x="10893" y="526364"/>
                    <a:pt x="7122" y="524802"/>
                    <a:pt x="4342" y="522022"/>
                  </a:cubicBezTo>
                  <a:cubicBezTo>
                    <a:pt x="1562" y="519242"/>
                    <a:pt x="0" y="515472"/>
                    <a:pt x="0" y="511540"/>
                  </a:cubicBezTo>
                  <a:lnTo>
                    <a:pt x="0" y="14824"/>
                  </a:lnTo>
                  <a:cubicBezTo>
                    <a:pt x="0" y="10893"/>
                    <a:pt x="1562" y="7122"/>
                    <a:pt x="4342" y="4342"/>
                  </a:cubicBezTo>
                  <a:cubicBezTo>
                    <a:pt x="7122" y="1562"/>
                    <a:pt x="10893" y="0"/>
                    <a:pt x="148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98815" cy="53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1259" y="4733494"/>
            <a:ext cx="8338658" cy="2400260"/>
            <a:chOff x="0" y="0"/>
            <a:chExt cx="1715773" cy="4938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15773" cy="493881"/>
            </a:xfrm>
            <a:custGeom>
              <a:avLst/>
              <a:gdLst/>
              <a:ahLst/>
              <a:cxnLst/>
              <a:rect r="r" b="b" t="t" l="l"/>
              <a:pathLst>
                <a:path h="493881" w="1715773">
                  <a:moveTo>
                    <a:pt x="18134" y="0"/>
                  </a:moveTo>
                  <a:lnTo>
                    <a:pt x="1697640" y="0"/>
                  </a:lnTo>
                  <a:cubicBezTo>
                    <a:pt x="1707654" y="0"/>
                    <a:pt x="1715773" y="8119"/>
                    <a:pt x="1715773" y="18134"/>
                  </a:cubicBezTo>
                  <a:lnTo>
                    <a:pt x="1715773" y="475747"/>
                  </a:lnTo>
                  <a:cubicBezTo>
                    <a:pt x="1715773" y="485762"/>
                    <a:pt x="1707654" y="493881"/>
                    <a:pt x="1697640" y="493881"/>
                  </a:cubicBezTo>
                  <a:lnTo>
                    <a:pt x="18134" y="493881"/>
                  </a:lnTo>
                  <a:cubicBezTo>
                    <a:pt x="8119" y="493881"/>
                    <a:pt x="0" y="485762"/>
                    <a:pt x="0" y="475747"/>
                  </a:cubicBezTo>
                  <a:lnTo>
                    <a:pt x="0" y="18134"/>
                  </a:lnTo>
                  <a:cubicBezTo>
                    <a:pt x="0" y="8119"/>
                    <a:pt x="8119" y="0"/>
                    <a:pt x="181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715773" cy="503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4091" y="5707395"/>
            <a:ext cx="8012993" cy="961608"/>
            <a:chOff x="0" y="0"/>
            <a:chExt cx="1241422" cy="1489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1422" cy="148978"/>
            </a:xfrm>
            <a:custGeom>
              <a:avLst/>
              <a:gdLst/>
              <a:ahLst/>
              <a:cxnLst/>
              <a:rect r="r" b="b" t="t" l="l"/>
              <a:pathLst>
                <a:path h="148978" w="1241422">
                  <a:moveTo>
                    <a:pt x="22222" y="0"/>
                  </a:moveTo>
                  <a:lnTo>
                    <a:pt x="1219200" y="0"/>
                  </a:lnTo>
                  <a:cubicBezTo>
                    <a:pt x="1225094" y="0"/>
                    <a:pt x="1230746" y="2341"/>
                    <a:pt x="1234914" y="6509"/>
                  </a:cubicBezTo>
                  <a:cubicBezTo>
                    <a:pt x="1239081" y="10676"/>
                    <a:pt x="1241422" y="16328"/>
                    <a:pt x="1241422" y="22222"/>
                  </a:cubicBezTo>
                  <a:lnTo>
                    <a:pt x="1241422" y="126756"/>
                  </a:lnTo>
                  <a:cubicBezTo>
                    <a:pt x="1241422" y="139029"/>
                    <a:pt x="1231473" y="148978"/>
                    <a:pt x="1219200" y="148978"/>
                  </a:cubicBezTo>
                  <a:lnTo>
                    <a:pt x="22222" y="148978"/>
                  </a:lnTo>
                  <a:cubicBezTo>
                    <a:pt x="16328" y="148978"/>
                    <a:pt x="10676" y="146637"/>
                    <a:pt x="6509" y="142470"/>
                  </a:cubicBezTo>
                  <a:cubicBezTo>
                    <a:pt x="2341" y="138302"/>
                    <a:pt x="0" y="132650"/>
                    <a:pt x="0" y="126756"/>
                  </a:cubicBezTo>
                  <a:lnTo>
                    <a:pt x="0" y="22222"/>
                  </a:lnTo>
                  <a:cubicBezTo>
                    <a:pt x="0" y="16328"/>
                    <a:pt x="2341" y="10676"/>
                    <a:pt x="6509" y="6509"/>
                  </a:cubicBezTo>
                  <a:cubicBezTo>
                    <a:pt x="10676" y="2341"/>
                    <a:pt x="16328" y="0"/>
                    <a:pt x="2222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624" r="0" b="-662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60909" y="4733494"/>
            <a:ext cx="8595833" cy="2400260"/>
            <a:chOff x="0" y="0"/>
            <a:chExt cx="1768690" cy="4938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68690" cy="493881"/>
            </a:xfrm>
            <a:custGeom>
              <a:avLst/>
              <a:gdLst/>
              <a:ahLst/>
              <a:cxnLst/>
              <a:rect r="r" b="b" t="t" l="l"/>
              <a:pathLst>
                <a:path h="493881" w="1768690">
                  <a:moveTo>
                    <a:pt x="17591" y="0"/>
                  </a:moveTo>
                  <a:lnTo>
                    <a:pt x="1751099" y="0"/>
                  </a:lnTo>
                  <a:cubicBezTo>
                    <a:pt x="1755764" y="0"/>
                    <a:pt x="1760239" y="1853"/>
                    <a:pt x="1763538" y="5152"/>
                  </a:cubicBezTo>
                  <a:cubicBezTo>
                    <a:pt x="1766837" y="8451"/>
                    <a:pt x="1768690" y="12926"/>
                    <a:pt x="1768690" y="17591"/>
                  </a:cubicBezTo>
                  <a:lnTo>
                    <a:pt x="1768690" y="476290"/>
                  </a:lnTo>
                  <a:cubicBezTo>
                    <a:pt x="1768690" y="486005"/>
                    <a:pt x="1760814" y="493881"/>
                    <a:pt x="1751099" y="493881"/>
                  </a:cubicBezTo>
                  <a:lnTo>
                    <a:pt x="17591" y="493881"/>
                  </a:lnTo>
                  <a:cubicBezTo>
                    <a:pt x="7876" y="493881"/>
                    <a:pt x="0" y="486005"/>
                    <a:pt x="0" y="476290"/>
                  </a:cubicBezTo>
                  <a:lnTo>
                    <a:pt x="0" y="17591"/>
                  </a:lnTo>
                  <a:cubicBezTo>
                    <a:pt x="0" y="7876"/>
                    <a:pt x="7876" y="0"/>
                    <a:pt x="175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768690" cy="503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793656" y="5486746"/>
            <a:ext cx="5330338" cy="641388"/>
            <a:chOff x="0" y="0"/>
            <a:chExt cx="1238104" cy="1489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38103" cy="148978"/>
            </a:xfrm>
            <a:custGeom>
              <a:avLst/>
              <a:gdLst/>
              <a:ahLst/>
              <a:cxnLst/>
              <a:rect r="r" b="b" t="t" l="l"/>
              <a:pathLst>
                <a:path h="148978" w="1238103">
                  <a:moveTo>
                    <a:pt x="18882" y="0"/>
                  </a:moveTo>
                  <a:lnTo>
                    <a:pt x="1219222" y="0"/>
                  </a:lnTo>
                  <a:cubicBezTo>
                    <a:pt x="1224230" y="0"/>
                    <a:pt x="1229032" y="1989"/>
                    <a:pt x="1232573" y="5530"/>
                  </a:cubicBezTo>
                  <a:cubicBezTo>
                    <a:pt x="1236114" y="9071"/>
                    <a:pt x="1238103" y="13874"/>
                    <a:pt x="1238103" y="18882"/>
                  </a:cubicBezTo>
                  <a:lnTo>
                    <a:pt x="1238103" y="130097"/>
                  </a:lnTo>
                  <a:cubicBezTo>
                    <a:pt x="1238103" y="140525"/>
                    <a:pt x="1229650" y="148978"/>
                    <a:pt x="1219222" y="148978"/>
                  </a:cubicBezTo>
                  <a:lnTo>
                    <a:pt x="18882" y="148978"/>
                  </a:lnTo>
                  <a:cubicBezTo>
                    <a:pt x="8454" y="148978"/>
                    <a:pt x="0" y="140525"/>
                    <a:pt x="0" y="130097"/>
                  </a:cubicBezTo>
                  <a:lnTo>
                    <a:pt x="0" y="18882"/>
                  </a:lnTo>
                  <a:cubicBezTo>
                    <a:pt x="0" y="8454"/>
                    <a:pt x="8454" y="0"/>
                    <a:pt x="18882" y="0"/>
                  </a:cubicBezTo>
                  <a:close/>
                </a:path>
              </a:pathLst>
            </a:custGeom>
            <a:blipFill>
              <a:blip r:embed="rId6"/>
              <a:stretch>
                <a:fillRect l="-12200" t="-65305" r="-15602" b="-66247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66954" y="165100"/>
            <a:ext cx="1655409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EVALUATION, TESTING &amp; PREDICTION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62133" y="1917497"/>
            <a:ext cx="35271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Training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20972" y="1917497"/>
            <a:ext cx="35271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Evaluation Output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2026" y="2426730"/>
            <a:ext cx="979262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Accuracy: 100%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Precision, Recall, F1-score = 1.00 for all classes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 shows zero misclassifications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  ✔ Perfect classification on test set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52471" y="4918075"/>
            <a:ext cx="469623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 on New Image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10709" y="4918075"/>
            <a:ext cx="469623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 Output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98531" y="6130816"/>
            <a:ext cx="758477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Uploaded image correctly classified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Image displayed with predicted label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96087" y="8041322"/>
            <a:ext cx="469623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Conclusion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689256" y="7603172"/>
            <a:ext cx="11126323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CNN successfully classifies animal images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Proper preprocessing + balanced dataset = excellent performance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Model is ready for real-world testing or deployment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20618" y="8014380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87377" y="2026076"/>
            <a:ext cx="5901108" cy="6234847"/>
            <a:chOff x="0" y="0"/>
            <a:chExt cx="914236" cy="9659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236" cy="965941"/>
            </a:xfrm>
            <a:custGeom>
              <a:avLst/>
              <a:gdLst/>
              <a:ahLst/>
              <a:cxnLst/>
              <a:rect r="r" b="b" t="t" l="l"/>
              <a:pathLst>
                <a:path h="965941" w="914236">
                  <a:moveTo>
                    <a:pt x="30175" y="0"/>
                  </a:moveTo>
                  <a:lnTo>
                    <a:pt x="884061" y="0"/>
                  </a:lnTo>
                  <a:cubicBezTo>
                    <a:pt x="900727" y="0"/>
                    <a:pt x="914236" y="13510"/>
                    <a:pt x="914236" y="30175"/>
                  </a:cubicBezTo>
                  <a:lnTo>
                    <a:pt x="914236" y="935766"/>
                  </a:lnTo>
                  <a:cubicBezTo>
                    <a:pt x="914236" y="952431"/>
                    <a:pt x="900727" y="965941"/>
                    <a:pt x="884061" y="965941"/>
                  </a:cubicBezTo>
                  <a:lnTo>
                    <a:pt x="30175" y="965941"/>
                  </a:lnTo>
                  <a:cubicBezTo>
                    <a:pt x="13510" y="965941"/>
                    <a:pt x="0" y="952431"/>
                    <a:pt x="0" y="935766"/>
                  </a:cubicBezTo>
                  <a:lnTo>
                    <a:pt x="0" y="30175"/>
                  </a:lnTo>
                  <a:cubicBezTo>
                    <a:pt x="0" y="13510"/>
                    <a:pt x="13510" y="0"/>
                    <a:pt x="3017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09852" y="2026076"/>
            <a:ext cx="5901108" cy="6234847"/>
            <a:chOff x="0" y="0"/>
            <a:chExt cx="914236" cy="9659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236" cy="965941"/>
            </a:xfrm>
            <a:custGeom>
              <a:avLst/>
              <a:gdLst/>
              <a:ahLst/>
              <a:cxnLst/>
              <a:rect r="r" b="b" t="t" l="l"/>
              <a:pathLst>
                <a:path h="965941" w="914236">
                  <a:moveTo>
                    <a:pt x="30175" y="0"/>
                  </a:moveTo>
                  <a:lnTo>
                    <a:pt x="884061" y="0"/>
                  </a:lnTo>
                  <a:cubicBezTo>
                    <a:pt x="900727" y="0"/>
                    <a:pt x="914236" y="13510"/>
                    <a:pt x="914236" y="30175"/>
                  </a:cubicBezTo>
                  <a:lnTo>
                    <a:pt x="914236" y="935766"/>
                  </a:lnTo>
                  <a:cubicBezTo>
                    <a:pt x="914236" y="952431"/>
                    <a:pt x="900727" y="965941"/>
                    <a:pt x="884061" y="965941"/>
                  </a:cubicBezTo>
                  <a:lnTo>
                    <a:pt x="30175" y="965941"/>
                  </a:lnTo>
                  <a:cubicBezTo>
                    <a:pt x="13510" y="965941"/>
                    <a:pt x="0" y="952431"/>
                    <a:pt x="0" y="935766"/>
                  </a:cubicBezTo>
                  <a:lnTo>
                    <a:pt x="0" y="30175"/>
                  </a:lnTo>
                  <a:cubicBezTo>
                    <a:pt x="0" y="13510"/>
                    <a:pt x="13510" y="0"/>
                    <a:pt x="3017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66954" y="165100"/>
            <a:ext cx="1655409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OUTPUT SCREENSHOTS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86595" y="2065193"/>
            <a:ext cx="19261191" cy="440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8"/>
              </a:lnSpc>
            </a:pPr>
            <a:r>
              <a:rPr lang="en-US" b="true" sz="12798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IMPLEMENTATION</a:t>
            </a:r>
          </a:p>
          <a:p>
            <a:pPr algn="ctr">
              <a:lnSpc>
                <a:spcPts val="15998"/>
              </a:lnSpc>
            </a:pPr>
            <a:r>
              <a:rPr lang="en-US" b="true" sz="12798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USING YOLOV11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1544" y="1802458"/>
            <a:ext cx="6597823" cy="2150165"/>
            <a:chOff x="0" y="0"/>
            <a:chExt cx="1357577" cy="4424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7577" cy="442421"/>
            </a:xfrm>
            <a:custGeom>
              <a:avLst/>
              <a:gdLst/>
              <a:ahLst/>
              <a:cxnLst/>
              <a:rect r="r" b="b" t="t" l="l"/>
              <a:pathLst>
                <a:path h="442421" w="1357577">
                  <a:moveTo>
                    <a:pt x="22918" y="0"/>
                  </a:moveTo>
                  <a:lnTo>
                    <a:pt x="1334659" y="0"/>
                  </a:lnTo>
                  <a:cubicBezTo>
                    <a:pt x="1347316" y="0"/>
                    <a:pt x="1357577" y="10261"/>
                    <a:pt x="1357577" y="22918"/>
                  </a:cubicBezTo>
                  <a:lnTo>
                    <a:pt x="1357577" y="419503"/>
                  </a:lnTo>
                  <a:cubicBezTo>
                    <a:pt x="1357577" y="432160"/>
                    <a:pt x="1347316" y="442421"/>
                    <a:pt x="1334659" y="442421"/>
                  </a:cubicBezTo>
                  <a:lnTo>
                    <a:pt x="22918" y="442421"/>
                  </a:lnTo>
                  <a:cubicBezTo>
                    <a:pt x="10261" y="442421"/>
                    <a:pt x="0" y="432160"/>
                    <a:pt x="0" y="419503"/>
                  </a:cubicBezTo>
                  <a:lnTo>
                    <a:pt x="0" y="22918"/>
                  </a:lnTo>
                  <a:cubicBezTo>
                    <a:pt x="0" y="10261"/>
                    <a:pt x="10261" y="0"/>
                    <a:pt x="229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DDA2A2">
                      <a:alpha val="100000"/>
                    </a:srgbClr>
                  </a:gs>
                  <a:gs pos="25000">
                    <a:srgbClr val="FABDBD">
                      <a:alpha val="100000"/>
                    </a:srgbClr>
                  </a:gs>
                  <a:gs pos="50000">
                    <a:srgbClr val="FFCFCE">
                      <a:alpha val="100000"/>
                    </a:srgbClr>
                  </a:gs>
                  <a:gs pos="75000">
                    <a:srgbClr val="FABDBD">
                      <a:alpha val="100000"/>
                    </a:srgbClr>
                  </a:gs>
                  <a:gs pos="100000">
                    <a:srgbClr val="DDA2A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357577" cy="451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03739" y="5782020"/>
            <a:ext cx="7262645" cy="3146226"/>
            <a:chOff x="0" y="0"/>
            <a:chExt cx="1912795" cy="8286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2795" cy="828636"/>
            </a:xfrm>
            <a:custGeom>
              <a:avLst/>
              <a:gdLst/>
              <a:ahLst/>
              <a:cxnLst/>
              <a:rect r="r" b="b" t="t" l="l"/>
              <a:pathLst>
                <a:path h="828636" w="1912795">
                  <a:moveTo>
                    <a:pt x="28782" y="0"/>
                  </a:moveTo>
                  <a:lnTo>
                    <a:pt x="1884013" y="0"/>
                  </a:lnTo>
                  <a:cubicBezTo>
                    <a:pt x="1891647" y="0"/>
                    <a:pt x="1898968" y="3032"/>
                    <a:pt x="1904365" y="8430"/>
                  </a:cubicBezTo>
                  <a:cubicBezTo>
                    <a:pt x="1909763" y="13828"/>
                    <a:pt x="1912795" y="21148"/>
                    <a:pt x="1912795" y="28782"/>
                  </a:cubicBezTo>
                  <a:lnTo>
                    <a:pt x="1912795" y="799854"/>
                  </a:lnTo>
                  <a:cubicBezTo>
                    <a:pt x="1912795" y="807487"/>
                    <a:pt x="1909763" y="814808"/>
                    <a:pt x="1904365" y="820206"/>
                  </a:cubicBezTo>
                  <a:cubicBezTo>
                    <a:pt x="1898968" y="825603"/>
                    <a:pt x="1891647" y="828636"/>
                    <a:pt x="1884013" y="828636"/>
                  </a:cubicBezTo>
                  <a:lnTo>
                    <a:pt x="28782" y="828636"/>
                  </a:lnTo>
                  <a:cubicBezTo>
                    <a:pt x="12886" y="828636"/>
                    <a:pt x="0" y="815750"/>
                    <a:pt x="0" y="799854"/>
                  </a:cubicBezTo>
                  <a:lnTo>
                    <a:pt x="0" y="28782"/>
                  </a:lnTo>
                  <a:cubicBezTo>
                    <a:pt x="0" y="12886"/>
                    <a:pt x="12886" y="0"/>
                    <a:pt x="287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12795" cy="828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1544" y="7100626"/>
            <a:ext cx="5915588" cy="1827620"/>
            <a:chOff x="0" y="0"/>
            <a:chExt cx="1558015" cy="4813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8015" cy="481348"/>
            </a:xfrm>
            <a:custGeom>
              <a:avLst/>
              <a:gdLst/>
              <a:ahLst/>
              <a:cxnLst/>
              <a:rect r="r" b="b" t="t" l="l"/>
              <a:pathLst>
                <a:path h="481348" w="1558015">
                  <a:moveTo>
                    <a:pt x="35336" y="0"/>
                  </a:moveTo>
                  <a:lnTo>
                    <a:pt x="1522679" y="0"/>
                  </a:lnTo>
                  <a:cubicBezTo>
                    <a:pt x="1542195" y="0"/>
                    <a:pt x="1558015" y="15820"/>
                    <a:pt x="1558015" y="35336"/>
                  </a:cubicBezTo>
                  <a:lnTo>
                    <a:pt x="1558015" y="446013"/>
                  </a:lnTo>
                  <a:cubicBezTo>
                    <a:pt x="1558015" y="465528"/>
                    <a:pt x="1542195" y="481348"/>
                    <a:pt x="1522679" y="481348"/>
                  </a:cubicBezTo>
                  <a:lnTo>
                    <a:pt x="35336" y="481348"/>
                  </a:lnTo>
                  <a:cubicBezTo>
                    <a:pt x="15820" y="481348"/>
                    <a:pt x="0" y="465528"/>
                    <a:pt x="0" y="446013"/>
                  </a:cubicBezTo>
                  <a:lnTo>
                    <a:pt x="0" y="35336"/>
                  </a:lnTo>
                  <a:cubicBezTo>
                    <a:pt x="0" y="15820"/>
                    <a:pt x="15820" y="0"/>
                    <a:pt x="353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558015" cy="481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82519" y="1802458"/>
            <a:ext cx="4932145" cy="2150165"/>
            <a:chOff x="0" y="0"/>
            <a:chExt cx="1299001" cy="566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9001" cy="566298"/>
            </a:xfrm>
            <a:custGeom>
              <a:avLst/>
              <a:gdLst/>
              <a:ahLst/>
              <a:cxnLst/>
              <a:rect r="r" b="b" t="t" l="l"/>
              <a:pathLst>
                <a:path h="566298" w="1299001">
                  <a:moveTo>
                    <a:pt x="42382" y="0"/>
                  </a:moveTo>
                  <a:lnTo>
                    <a:pt x="1256620" y="0"/>
                  </a:lnTo>
                  <a:cubicBezTo>
                    <a:pt x="1267860" y="0"/>
                    <a:pt x="1278640" y="4465"/>
                    <a:pt x="1286588" y="12413"/>
                  </a:cubicBezTo>
                  <a:cubicBezTo>
                    <a:pt x="1294536" y="20361"/>
                    <a:pt x="1299001" y="31141"/>
                    <a:pt x="1299001" y="42382"/>
                  </a:cubicBezTo>
                  <a:lnTo>
                    <a:pt x="1299001" y="523917"/>
                  </a:lnTo>
                  <a:cubicBezTo>
                    <a:pt x="1299001" y="547324"/>
                    <a:pt x="1280026" y="566298"/>
                    <a:pt x="1256620" y="566298"/>
                  </a:cubicBezTo>
                  <a:lnTo>
                    <a:pt x="42382" y="566298"/>
                  </a:lnTo>
                  <a:cubicBezTo>
                    <a:pt x="31141" y="566298"/>
                    <a:pt x="20361" y="561833"/>
                    <a:pt x="12413" y="553885"/>
                  </a:cubicBezTo>
                  <a:cubicBezTo>
                    <a:pt x="4465" y="545937"/>
                    <a:pt x="0" y="535157"/>
                    <a:pt x="0" y="523917"/>
                  </a:cubicBezTo>
                  <a:lnTo>
                    <a:pt x="0" y="42382"/>
                  </a:lnTo>
                  <a:cubicBezTo>
                    <a:pt x="0" y="18975"/>
                    <a:pt x="18975" y="0"/>
                    <a:pt x="423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299001" cy="566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9592" y="7759415"/>
            <a:ext cx="5419493" cy="555529"/>
            <a:chOff x="0" y="0"/>
            <a:chExt cx="921445" cy="944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1445" cy="94453"/>
            </a:xfrm>
            <a:custGeom>
              <a:avLst/>
              <a:gdLst/>
              <a:ahLst/>
              <a:cxnLst/>
              <a:rect r="r" b="b" t="t" l="l"/>
              <a:pathLst>
                <a:path h="94453" w="921445">
                  <a:moveTo>
                    <a:pt x="21428" y="0"/>
                  </a:moveTo>
                  <a:lnTo>
                    <a:pt x="900017" y="0"/>
                  </a:lnTo>
                  <a:cubicBezTo>
                    <a:pt x="905700" y="0"/>
                    <a:pt x="911150" y="2258"/>
                    <a:pt x="915169" y="6276"/>
                  </a:cubicBezTo>
                  <a:cubicBezTo>
                    <a:pt x="919187" y="10295"/>
                    <a:pt x="921445" y="15745"/>
                    <a:pt x="921445" y="21428"/>
                  </a:cubicBezTo>
                  <a:lnTo>
                    <a:pt x="921445" y="73025"/>
                  </a:lnTo>
                  <a:cubicBezTo>
                    <a:pt x="921445" y="84860"/>
                    <a:pt x="911851" y="94453"/>
                    <a:pt x="900017" y="94453"/>
                  </a:cubicBezTo>
                  <a:lnTo>
                    <a:pt x="21428" y="94453"/>
                  </a:lnTo>
                  <a:cubicBezTo>
                    <a:pt x="15745" y="94453"/>
                    <a:pt x="10295" y="92196"/>
                    <a:pt x="6276" y="88177"/>
                  </a:cubicBezTo>
                  <a:cubicBezTo>
                    <a:pt x="2258" y="84159"/>
                    <a:pt x="0" y="78708"/>
                    <a:pt x="0" y="73025"/>
                  </a:cubicBezTo>
                  <a:lnTo>
                    <a:pt x="0" y="21428"/>
                  </a:lnTo>
                  <a:cubicBezTo>
                    <a:pt x="0" y="15745"/>
                    <a:pt x="2258" y="10295"/>
                    <a:pt x="6276" y="6276"/>
                  </a:cubicBezTo>
                  <a:cubicBezTo>
                    <a:pt x="10295" y="2258"/>
                    <a:pt x="15745" y="0"/>
                    <a:pt x="2142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52454" y="1802458"/>
            <a:ext cx="4713930" cy="3780269"/>
            <a:chOff x="0" y="0"/>
            <a:chExt cx="969944" cy="7778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9944" cy="777833"/>
            </a:xfrm>
            <a:custGeom>
              <a:avLst/>
              <a:gdLst/>
              <a:ahLst/>
              <a:cxnLst/>
              <a:rect r="r" b="b" t="t" l="l"/>
              <a:pathLst>
                <a:path h="777833" w="969944">
                  <a:moveTo>
                    <a:pt x="32077" y="0"/>
                  </a:moveTo>
                  <a:lnTo>
                    <a:pt x="937867" y="0"/>
                  </a:lnTo>
                  <a:cubicBezTo>
                    <a:pt x="955583" y="0"/>
                    <a:pt x="969944" y="14361"/>
                    <a:pt x="969944" y="32077"/>
                  </a:cubicBezTo>
                  <a:lnTo>
                    <a:pt x="969944" y="745756"/>
                  </a:lnTo>
                  <a:cubicBezTo>
                    <a:pt x="969944" y="763472"/>
                    <a:pt x="955583" y="777833"/>
                    <a:pt x="937867" y="777833"/>
                  </a:cubicBezTo>
                  <a:lnTo>
                    <a:pt x="32077" y="777833"/>
                  </a:lnTo>
                  <a:cubicBezTo>
                    <a:pt x="23570" y="777833"/>
                    <a:pt x="15411" y="774454"/>
                    <a:pt x="9395" y="768438"/>
                  </a:cubicBezTo>
                  <a:cubicBezTo>
                    <a:pt x="3380" y="762422"/>
                    <a:pt x="0" y="754263"/>
                    <a:pt x="0" y="745756"/>
                  </a:cubicBezTo>
                  <a:lnTo>
                    <a:pt x="0" y="32077"/>
                  </a:lnTo>
                  <a:cubicBezTo>
                    <a:pt x="0" y="14361"/>
                    <a:pt x="14361" y="0"/>
                    <a:pt x="320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DDA2A2">
                      <a:alpha val="100000"/>
                    </a:srgbClr>
                  </a:gs>
                  <a:gs pos="25000">
                    <a:srgbClr val="FABDBD">
                      <a:alpha val="100000"/>
                    </a:srgbClr>
                  </a:gs>
                  <a:gs pos="50000">
                    <a:srgbClr val="FFCFCE">
                      <a:alpha val="100000"/>
                    </a:srgbClr>
                  </a:gs>
                  <a:gs pos="75000">
                    <a:srgbClr val="FABDBD">
                      <a:alpha val="100000"/>
                    </a:srgbClr>
                  </a:gs>
                  <a:gs pos="100000">
                    <a:srgbClr val="DDA2A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69944" cy="78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41544" y="4343147"/>
            <a:ext cx="5419493" cy="2428696"/>
            <a:chOff x="0" y="0"/>
            <a:chExt cx="839621" cy="37626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9621" cy="376269"/>
            </a:xfrm>
            <a:custGeom>
              <a:avLst/>
              <a:gdLst/>
              <a:ahLst/>
              <a:cxnLst/>
              <a:rect r="r" b="b" t="t" l="l"/>
              <a:pathLst>
                <a:path h="376269" w="839621">
                  <a:moveTo>
                    <a:pt x="32856" y="0"/>
                  </a:moveTo>
                  <a:lnTo>
                    <a:pt x="806765" y="0"/>
                  </a:lnTo>
                  <a:cubicBezTo>
                    <a:pt x="815479" y="0"/>
                    <a:pt x="823836" y="3462"/>
                    <a:pt x="829998" y="9623"/>
                  </a:cubicBezTo>
                  <a:cubicBezTo>
                    <a:pt x="836160" y="15785"/>
                    <a:pt x="839621" y="24142"/>
                    <a:pt x="839621" y="32856"/>
                  </a:cubicBezTo>
                  <a:lnTo>
                    <a:pt x="839621" y="343412"/>
                  </a:lnTo>
                  <a:cubicBezTo>
                    <a:pt x="839621" y="361558"/>
                    <a:pt x="824911" y="376269"/>
                    <a:pt x="806765" y="376269"/>
                  </a:cubicBezTo>
                  <a:lnTo>
                    <a:pt x="32856" y="376269"/>
                  </a:lnTo>
                  <a:cubicBezTo>
                    <a:pt x="24142" y="376269"/>
                    <a:pt x="15785" y="372807"/>
                    <a:pt x="9623" y="366645"/>
                  </a:cubicBezTo>
                  <a:cubicBezTo>
                    <a:pt x="3462" y="360484"/>
                    <a:pt x="0" y="352126"/>
                    <a:pt x="0" y="343412"/>
                  </a:cubicBezTo>
                  <a:lnTo>
                    <a:pt x="0" y="32856"/>
                  </a:lnTo>
                  <a:cubicBezTo>
                    <a:pt x="0" y="14710"/>
                    <a:pt x="14710" y="0"/>
                    <a:pt x="3285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267492" y="6420986"/>
            <a:ext cx="6935139" cy="701716"/>
            <a:chOff x="0" y="0"/>
            <a:chExt cx="915656" cy="926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5656" cy="92649"/>
            </a:xfrm>
            <a:custGeom>
              <a:avLst/>
              <a:gdLst/>
              <a:ahLst/>
              <a:cxnLst/>
              <a:rect r="r" b="b" t="t" l="l"/>
              <a:pathLst>
                <a:path h="92649" w="915656">
                  <a:moveTo>
                    <a:pt x="14512" y="0"/>
                  </a:moveTo>
                  <a:lnTo>
                    <a:pt x="901144" y="0"/>
                  </a:lnTo>
                  <a:cubicBezTo>
                    <a:pt x="909159" y="0"/>
                    <a:pt x="915656" y="6497"/>
                    <a:pt x="915656" y="14512"/>
                  </a:cubicBezTo>
                  <a:lnTo>
                    <a:pt x="915656" y="78136"/>
                  </a:lnTo>
                  <a:cubicBezTo>
                    <a:pt x="915656" y="86151"/>
                    <a:pt x="909159" y="92649"/>
                    <a:pt x="901144" y="92649"/>
                  </a:cubicBezTo>
                  <a:lnTo>
                    <a:pt x="14512" y="92649"/>
                  </a:lnTo>
                  <a:cubicBezTo>
                    <a:pt x="6497" y="92649"/>
                    <a:pt x="0" y="86151"/>
                    <a:pt x="0" y="78136"/>
                  </a:cubicBezTo>
                  <a:lnTo>
                    <a:pt x="0" y="14512"/>
                  </a:lnTo>
                  <a:cubicBezTo>
                    <a:pt x="0" y="6497"/>
                    <a:pt x="6497" y="0"/>
                    <a:pt x="1451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582519" y="2839440"/>
            <a:ext cx="493214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Folder name = class label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mages only (no annotation files)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86161" y="1915905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Setup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49826" y="3523129"/>
            <a:ext cx="2109606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dataset_yolo/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├── train/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├── val/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└── test/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86161" y="2401665"/>
            <a:ext cx="5898706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Structure Requirement</a:t>
            </a:r>
          </a:p>
          <a:p>
            <a:pPr algn="ctr">
              <a:lnSpc>
                <a:spcPts val="2799"/>
              </a:lnSpc>
            </a:pPr>
            <a:r>
              <a:rPr lang="en-US" b="true" sz="19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(YOLO Classification)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9912" y="174625"/>
            <a:ext cx="1632817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DATA PREPARATION &amp; PROCESSING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1523" y="1922239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0630" y="2392140"/>
            <a:ext cx="6229599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Preparing a raw image dataset stored in Google Drive into a YOLO-compatible classification dataset with train, validation, and test splits.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47883" y="5305860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04924" y="8220885"/>
            <a:ext cx="5860275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Balanced dataset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Each class contains equal samples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95930" y="7784813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05934" y="8372094"/>
            <a:ext cx="578680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No manual splitting required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43978" y="5157542"/>
            <a:ext cx="630532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Unzips dataset containing class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folders only.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146040" y="1922239"/>
            <a:ext cx="380510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YOLO Classification</a:t>
            </a:r>
          </a:p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expects: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58426" y="7225840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 Dataset Splitting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207374" y="7441232"/>
            <a:ext cx="2753491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70% Training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20% Validation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10% Testing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856866" y="3994233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357037" y="3346916"/>
            <a:ext cx="210960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├── c</a:t>
            </a:r>
            <a:r>
              <a:rPr lang="en-US" sz="19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at/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├── cow/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├── dog/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├── lamb/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└── zebra/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58319" y="5792277"/>
            <a:ext cx="215348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45057" y="7235365"/>
            <a:ext cx="7180009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train: 350 images in 5 classes</a:t>
            </a:r>
          </a:p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val:</a:t>
            </a:r>
            <a:r>
              <a:rPr lang="en-US" sz="17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100 images in 5 classes</a:t>
            </a:r>
          </a:p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test:   50 images in 5 classes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2397" y="1869043"/>
            <a:ext cx="6029189" cy="1634210"/>
            <a:chOff x="0" y="0"/>
            <a:chExt cx="1587935" cy="430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7934" cy="430409"/>
            </a:xfrm>
            <a:custGeom>
              <a:avLst/>
              <a:gdLst/>
              <a:ahLst/>
              <a:cxnLst/>
              <a:rect r="r" b="b" t="t" l="l"/>
              <a:pathLst>
                <a:path h="430409" w="1587934">
                  <a:moveTo>
                    <a:pt x="34670" y="0"/>
                  </a:moveTo>
                  <a:lnTo>
                    <a:pt x="1553264" y="0"/>
                  </a:lnTo>
                  <a:cubicBezTo>
                    <a:pt x="1562460" y="0"/>
                    <a:pt x="1571278" y="3653"/>
                    <a:pt x="1577780" y="10155"/>
                  </a:cubicBezTo>
                  <a:cubicBezTo>
                    <a:pt x="1584282" y="16656"/>
                    <a:pt x="1587934" y="25475"/>
                    <a:pt x="1587934" y="34670"/>
                  </a:cubicBezTo>
                  <a:lnTo>
                    <a:pt x="1587934" y="395739"/>
                  </a:lnTo>
                  <a:cubicBezTo>
                    <a:pt x="1587934" y="404934"/>
                    <a:pt x="1584282" y="413753"/>
                    <a:pt x="1577780" y="420255"/>
                  </a:cubicBezTo>
                  <a:cubicBezTo>
                    <a:pt x="1571278" y="426756"/>
                    <a:pt x="1562460" y="430409"/>
                    <a:pt x="1553264" y="430409"/>
                  </a:cubicBezTo>
                  <a:lnTo>
                    <a:pt x="34670" y="430409"/>
                  </a:lnTo>
                  <a:cubicBezTo>
                    <a:pt x="25475" y="430409"/>
                    <a:pt x="16656" y="426756"/>
                    <a:pt x="10155" y="420255"/>
                  </a:cubicBezTo>
                  <a:cubicBezTo>
                    <a:pt x="3653" y="413753"/>
                    <a:pt x="0" y="404934"/>
                    <a:pt x="0" y="395739"/>
                  </a:cubicBezTo>
                  <a:lnTo>
                    <a:pt x="0" y="34670"/>
                  </a:lnTo>
                  <a:cubicBezTo>
                    <a:pt x="0" y="25475"/>
                    <a:pt x="3653" y="16656"/>
                    <a:pt x="10155" y="10155"/>
                  </a:cubicBezTo>
                  <a:cubicBezTo>
                    <a:pt x="16656" y="3653"/>
                    <a:pt x="25475" y="0"/>
                    <a:pt x="346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87935" cy="430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8102" y="2538634"/>
            <a:ext cx="5637779" cy="793082"/>
            <a:chOff x="0" y="0"/>
            <a:chExt cx="873440" cy="122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3440" cy="122869"/>
            </a:xfrm>
            <a:custGeom>
              <a:avLst/>
              <a:gdLst/>
              <a:ahLst/>
              <a:cxnLst/>
              <a:rect r="r" b="b" t="t" l="l"/>
              <a:pathLst>
                <a:path h="122869" w="873440">
                  <a:moveTo>
                    <a:pt x="31584" y="0"/>
                  </a:moveTo>
                  <a:lnTo>
                    <a:pt x="841855" y="0"/>
                  </a:lnTo>
                  <a:cubicBezTo>
                    <a:pt x="859299" y="0"/>
                    <a:pt x="873440" y="14141"/>
                    <a:pt x="873440" y="31584"/>
                  </a:cubicBezTo>
                  <a:lnTo>
                    <a:pt x="873440" y="91285"/>
                  </a:lnTo>
                  <a:cubicBezTo>
                    <a:pt x="873440" y="108728"/>
                    <a:pt x="859299" y="122869"/>
                    <a:pt x="841855" y="122869"/>
                  </a:cubicBezTo>
                  <a:lnTo>
                    <a:pt x="31584" y="122869"/>
                  </a:lnTo>
                  <a:cubicBezTo>
                    <a:pt x="14141" y="122869"/>
                    <a:pt x="0" y="108728"/>
                    <a:pt x="0" y="91285"/>
                  </a:cubicBezTo>
                  <a:lnTo>
                    <a:pt x="0" y="31584"/>
                  </a:lnTo>
                  <a:cubicBezTo>
                    <a:pt x="0" y="14141"/>
                    <a:pt x="14141" y="0"/>
                    <a:pt x="3158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6" r="-5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2397" y="3817578"/>
            <a:ext cx="9050414" cy="4688456"/>
            <a:chOff x="0" y="0"/>
            <a:chExt cx="2383648" cy="12348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3648" cy="1234820"/>
            </a:xfrm>
            <a:custGeom>
              <a:avLst/>
              <a:gdLst/>
              <a:ahLst/>
              <a:cxnLst/>
              <a:rect r="r" b="b" t="t" l="l"/>
              <a:pathLst>
                <a:path h="1234820" w="2383648">
                  <a:moveTo>
                    <a:pt x="23096" y="0"/>
                  </a:moveTo>
                  <a:lnTo>
                    <a:pt x="2360552" y="0"/>
                  </a:lnTo>
                  <a:cubicBezTo>
                    <a:pt x="2373307" y="0"/>
                    <a:pt x="2383648" y="10341"/>
                    <a:pt x="2383648" y="23096"/>
                  </a:cubicBezTo>
                  <a:lnTo>
                    <a:pt x="2383648" y="1211723"/>
                  </a:lnTo>
                  <a:cubicBezTo>
                    <a:pt x="2383648" y="1224479"/>
                    <a:pt x="2373307" y="1234820"/>
                    <a:pt x="2360552" y="1234820"/>
                  </a:cubicBezTo>
                  <a:lnTo>
                    <a:pt x="23096" y="1234820"/>
                  </a:lnTo>
                  <a:cubicBezTo>
                    <a:pt x="10341" y="1234820"/>
                    <a:pt x="0" y="1224479"/>
                    <a:pt x="0" y="1211723"/>
                  </a:cubicBezTo>
                  <a:lnTo>
                    <a:pt x="0" y="23096"/>
                  </a:lnTo>
                  <a:cubicBezTo>
                    <a:pt x="0" y="10341"/>
                    <a:pt x="10341" y="0"/>
                    <a:pt x="230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383648" cy="123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732410" y="7222385"/>
            <a:ext cx="2822040" cy="597772"/>
            <a:chOff x="0" y="0"/>
            <a:chExt cx="437208" cy="926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7208" cy="92611"/>
            </a:xfrm>
            <a:custGeom>
              <a:avLst/>
              <a:gdLst/>
              <a:ahLst/>
              <a:cxnLst/>
              <a:rect r="r" b="b" t="t" l="l"/>
              <a:pathLst>
                <a:path h="92611" w="437208">
                  <a:moveTo>
                    <a:pt x="38407" y="0"/>
                  </a:moveTo>
                  <a:lnTo>
                    <a:pt x="398801" y="0"/>
                  </a:lnTo>
                  <a:cubicBezTo>
                    <a:pt x="420012" y="0"/>
                    <a:pt x="437208" y="17196"/>
                    <a:pt x="437208" y="38407"/>
                  </a:cubicBezTo>
                  <a:lnTo>
                    <a:pt x="437208" y="54203"/>
                  </a:lnTo>
                  <a:cubicBezTo>
                    <a:pt x="437208" y="75415"/>
                    <a:pt x="420012" y="92611"/>
                    <a:pt x="398801" y="92611"/>
                  </a:cubicBezTo>
                  <a:lnTo>
                    <a:pt x="38407" y="92611"/>
                  </a:lnTo>
                  <a:cubicBezTo>
                    <a:pt x="17196" y="92611"/>
                    <a:pt x="0" y="75415"/>
                    <a:pt x="0" y="54203"/>
                  </a:cubicBezTo>
                  <a:lnTo>
                    <a:pt x="0" y="38407"/>
                  </a:lnTo>
                  <a:cubicBezTo>
                    <a:pt x="0" y="17196"/>
                    <a:pt x="17196" y="0"/>
                    <a:pt x="3840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527440" y="1869043"/>
            <a:ext cx="6029189" cy="3100163"/>
            <a:chOff x="0" y="0"/>
            <a:chExt cx="1587935" cy="8165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87934" cy="816504"/>
            </a:xfrm>
            <a:custGeom>
              <a:avLst/>
              <a:gdLst/>
              <a:ahLst/>
              <a:cxnLst/>
              <a:rect r="r" b="b" t="t" l="l"/>
              <a:pathLst>
                <a:path h="816504" w="1587934">
                  <a:moveTo>
                    <a:pt x="34670" y="0"/>
                  </a:moveTo>
                  <a:lnTo>
                    <a:pt x="1553264" y="0"/>
                  </a:lnTo>
                  <a:cubicBezTo>
                    <a:pt x="1562460" y="0"/>
                    <a:pt x="1571278" y="3653"/>
                    <a:pt x="1577780" y="10155"/>
                  </a:cubicBezTo>
                  <a:cubicBezTo>
                    <a:pt x="1584282" y="16656"/>
                    <a:pt x="1587934" y="25475"/>
                    <a:pt x="1587934" y="34670"/>
                  </a:cubicBezTo>
                  <a:lnTo>
                    <a:pt x="1587934" y="781834"/>
                  </a:lnTo>
                  <a:cubicBezTo>
                    <a:pt x="1587934" y="791029"/>
                    <a:pt x="1584282" y="799847"/>
                    <a:pt x="1577780" y="806349"/>
                  </a:cubicBezTo>
                  <a:cubicBezTo>
                    <a:pt x="1571278" y="812851"/>
                    <a:pt x="1562460" y="816504"/>
                    <a:pt x="1553264" y="816504"/>
                  </a:cubicBezTo>
                  <a:lnTo>
                    <a:pt x="34670" y="816504"/>
                  </a:lnTo>
                  <a:cubicBezTo>
                    <a:pt x="25475" y="816504"/>
                    <a:pt x="16656" y="812851"/>
                    <a:pt x="10155" y="806349"/>
                  </a:cubicBezTo>
                  <a:cubicBezTo>
                    <a:pt x="3653" y="799847"/>
                    <a:pt x="0" y="791029"/>
                    <a:pt x="0" y="781834"/>
                  </a:cubicBezTo>
                  <a:lnTo>
                    <a:pt x="0" y="34670"/>
                  </a:lnTo>
                  <a:cubicBezTo>
                    <a:pt x="0" y="25475"/>
                    <a:pt x="3653" y="16656"/>
                    <a:pt x="10155" y="10155"/>
                  </a:cubicBezTo>
                  <a:cubicBezTo>
                    <a:pt x="16656" y="3653"/>
                    <a:pt x="25475" y="0"/>
                    <a:pt x="346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587935" cy="816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527440" y="5405870"/>
            <a:ext cx="6029189" cy="3100163"/>
            <a:chOff x="0" y="0"/>
            <a:chExt cx="1587935" cy="816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87934" cy="816504"/>
            </a:xfrm>
            <a:custGeom>
              <a:avLst/>
              <a:gdLst/>
              <a:ahLst/>
              <a:cxnLst/>
              <a:rect r="r" b="b" t="t" l="l"/>
              <a:pathLst>
                <a:path h="816504" w="1587934">
                  <a:moveTo>
                    <a:pt x="34670" y="0"/>
                  </a:moveTo>
                  <a:lnTo>
                    <a:pt x="1553264" y="0"/>
                  </a:lnTo>
                  <a:cubicBezTo>
                    <a:pt x="1562460" y="0"/>
                    <a:pt x="1571278" y="3653"/>
                    <a:pt x="1577780" y="10155"/>
                  </a:cubicBezTo>
                  <a:cubicBezTo>
                    <a:pt x="1584282" y="16656"/>
                    <a:pt x="1587934" y="25475"/>
                    <a:pt x="1587934" y="34670"/>
                  </a:cubicBezTo>
                  <a:lnTo>
                    <a:pt x="1587934" y="781834"/>
                  </a:lnTo>
                  <a:cubicBezTo>
                    <a:pt x="1587934" y="791029"/>
                    <a:pt x="1584282" y="799847"/>
                    <a:pt x="1577780" y="806349"/>
                  </a:cubicBezTo>
                  <a:cubicBezTo>
                    <a:pt x="1571278" y="812851"/>
                    <a:pt x="1562460" y="816504"/>
                    <a:pt x="1553264" y="816504"/>
                  </a:cubicBezTo>
                  <a:lnTo>
                    <a:pt x="34670" y="816504"/>
                  </a:lnTo>
                  <a:cubicBezTo>
                    <a:pt x="25475" y="816504"/>
                    <a:pt x="16656" y="812851"/>
                    <a:pt x="10155" y="806349"/>
                  </a:cubicBezTo>
                  <a:cubicBezTo>
                    <a:pt x="3653" y="799847"/>
                    <a:pt x="0" y="791029"/>
                    <a:pt x="0" y="781834"/>
                  </a:cubicBezTo>
                  <a:lnTo>
                    <a:pt x="0" y="34670"/>
                  </a:lnTo>
                  <a:cubicBezTo>
                    <a:pt x="0" y="25475"/>
                    <a:pt x="3653" y="16656"/>
                    <a:pt x="10155" y="10155"/>
                  </a:cubicBezTo>
                  <a:cubicBezTo>
                    <a:pt x="16656" y="3653"/>
                    <a:pt x="25475" y="0"/>
                    <a:pt x="346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100000"/>
                  </a:srgbClr>
                </a:gs>
                <a:gs pos="25000">
                  <a:srgbClr val="FABDBD">
                    <a:alpha val="100000"/>
                  </a:srgbClr>
                </a:gs>
                <a:gs pos="50000">
                  <a:srgbClr val="FFCFCE">
                    <a:alpha val="100000"/>
                  </a:srgbClr>
                </a:gs>
                <a:gs pos="75000">
                  <a:srgbClr val="FABDBD">
                    <a:alpha val="100000"/>
                  </a:srgbClr>
                </a:gs>
                <a:gs pos="100000">
                  <a:srgbClr val="DDA2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587935" cy="816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43861" y="2538634"/>
            <a:ext cx="3796347" cy="1047540"/>
            <a:chOff x="0" y="0"/>
            <a:chExt cx="588153" cy="1622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8153" cy="162291"/>
            </a:xfrm>
            <a:custGeom>
              <a:avLst/>
              <a:gdLst/>
              <a:ahLst/>
              <a:cxnLst/>
              <a:rect r="r" b="b" t="t" l="l"/>
              <a:pathLst>
                <a:path h="162291" w="588153">
                  <a:moveTo>
                    <a:pt x="34668" y="0"/>
                  </a:moveTo>
                  <a:lnTo>
                    <a:pt x="553485" y="0"/>
                  </a:lnTo>
                  <a:cubicBezTo>
                    <a:pt x="572632" y="0"/>
                    <a:pt x="588153" y="15521"/>
                    <a:pt x="588153" y="34668"/>
                  </a:cubicBezTo>
                  <a:lnTo>
                    <a:pt x="588153" y="127623"/>
                  </a:lnTo>
                  <a:cubicBezTo>
                    <a:pt x="588153" y="136818"/>
                    <a:pt x="584501" y="145636"/>
                    <a:pt x="577999" y="152137"/>
                  </a:cubicBezTo>
                  <a:cubicBezTo>
                    <a:pt x="571498" y="158639"/>
                    <a:pt x="562680" y="162291"/>
                    <a:pt x="553485" y="162291"/>
                  </a:cubicBezTo>
                  <a:lnTo>
                    <a:pt x="34668" y="162291"/>
                  </a:lnTo>
                  <a:cubicBezTo>
                    <a:pt x="15521" y="162291"/>
                    <a:pt x="0" y="146770"/>
                    <a:pt x="0" y="127623"/>
                  </a:cubicBezTo>
                  <a:lnTo>
                    <a:pt x="0" y="34668"/>
                  </a:lnTo>
                  <a:cubicBezTo>
                    <a:pt x="0" y="25474"/>
                    <a:pt x="3653" y="16656"/>
                    <a:pt x="10154" y="10154"/>
                  </a:cubicBezTo>
                  <a:cubicBezTo>
                    <a:pt x="16656" y="3653"/>
                    <a:pt x="25474" y="0"/>
                    <a:pt x="3466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723031" y="6136894"/>
            <a:ext cx="5638007" cy="390245"/>
            <a:chOff x="0" y="0"/>
            <a:chExt cx="873475" cy="604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3475" cy="60459"/>
            </a:xfrm>
            <a:custGeom>
              <a:avLst/>
              <a:gdLst/>
              <a:ahLst/>
              <a:cxnLst/>
              <a:rect r="r" b="b" t="t" l="l"/>
              <a:pathLst>
                <a:path h="60459" w="873475">
                  <a:moveTo>
                    <a:pt x="12358" y="0"/>
                  </a:moveTo>
                  <a:lnTo>
                    <a:pt x="861116" y="0"/>
                  </a:lnTo>
                  <a:cubicBezTo>
                    <a:pt x="867942" y="0"/>
                    <a:pt x="873475" y="5533"/>
                    <a:pt x="873475" y="12358"/>
                  </a:cubicBezTo>
                  <a:lnTo>
                    <a:pt x="873475" y="48101"/>
                  </a:lnTo>
                  <a:cubicBezTo>
                    <a:pt x="873475" y="54926"/>
                    <a:pt x="867942" y="60459"/>
                    <a:pt x="861116" y="60459"/>
                  </a:cubicBezTo>
                  <a:lnTo>
                    <a:pt x="12358" y="60459"/>
                  </a:lnTo>
                  <a:cubicBezTo>
                    <a:pt x="5533" y="60459"/>
                    <a:pt x="0" y="54926"/>
                    <a:pt x="0" y="48101"/>
                  </a:cubicBezTo>
                  <a:lnTo>
                    <a:pt x="0" y="12358"/>
                  </a:lnTo>
                  <a:cubicBezTo>
                    <a:pt x="0" y="5533"/>
                    <a:pt x="5533" y="0"/>
                    <a:pt x="1235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607681" y="165100"/>
            <a:ext cx="7072639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YOLOV11 MODEL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7639" y="1982640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Used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55492" y="2459016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08038" y="2067493"/>
            <a:ext cx="3808771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YOLOv11 Nano – Classification 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variant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Lightweight &amp; efficient for CPU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Pretrained on ImageNet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08251" y="3922353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Overview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3126" y="4520396"/>
            <a:ext cx="8568957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YOLOv11-cls is a Convolutional Neural Network (CNN) consisting of:</a:t>
            </a:r>
          </a:p>
          <a:p>
            <a:pPr algn="just" marL="453388" indent="-226694" lvl="1">
              <a:lnSpc>
                <a:spcPts val="2939"/>
              </a:lnSpc>
              <a:buAutoNum type="arabicPeriod" startAt="1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Convolution Layers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Extract low-level features (edges, textures)</a:t>
            </a:r>
          </a:p>
          <a:p>
            <a:pPr algn="just" marL="453388" indent="-226694" lvl="1">
              <a:lnSpc>
                <a:spcPts val="2939"/>
              </a:lnSpc>
              <a:buAutoNum type="arabicPeriod" startAt="1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C3k2 &amp; C2PSA Blocks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Learn complex spatial patterns</a:t>
            </a:r>
          </a:p>
          <a:p>
            <a:pPr algn="just" marL="453388" indent="-226694" lvl="1">
              <a:lnSpc>
                <a:spcPts val="2939"/>
              </a:lnSpc>
              <a:buAutoNum type="arabicPeriod" startAt="1"/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Head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55390" y="7898960"/>
            <a:ext cx="577608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Outputs probability for 5 animal classes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592682" y="1982640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Summary Output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82666" y="3690948"/>
            <a:ext cx="4600981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Small model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Fast inference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Suitable for real-time use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92682" y="5518978"/>
            <a:ext cx="589870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 Learning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94420" y="6631913"/>
            <a:ext cx="566661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Uses learned features from large datasets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Faster convergence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Higher accuracy with fewer epochs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1752428"/>
            <a:ext cx="7978717" cy="6782144"/>
            <a:chOff x="0" y="0"/>
            <a:chExt cx="1641711" cy="13955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1711" cy="1395503"/>
            </a:xfrm>
            <a:custGeom>
              <a:avLst/>
              <a:gdLst/>
              <a:ahLst/>
              <a:cxnLst/>
              <a:rect r="r" b="b" t="t" l="l"/>
              <a:pathLst>
                <a:path h="1395503" w="1641711">
                  <a:moveTo>
                    <a:pt x="18952" y="0"/>
                  </a:moveTo>
                  <a:lnTo>
                    <a:pt x="1622760" y="0"/>
                  </a:lnTo>
                  <a:cubicBezTo>
                    <a:pt x="1633226" y="0"/>
                    <a:pt x="1641711" y="8485"/>
                    <a:pt x="1641711" y="18952"/>
                  </a:cubicBezTo>
                  <a:lnTo>
                    <a:pt x="1641711" y="1376551"/>
                  </a:lnTo>
                  <a:cubicBezTo>
                    <a:pt x="1641711" y="1381578"/>
                    <a:pt x="1639715" y="1386398"/>
                    <a:pt x="1636161" y="1389952"/>
                  </a:cubicBezTo>
                  <a:cubicBezTo>
                    <a:pt x="1632607" y="1393506"/>
                    <a:pt x="1627786" y="1395503"/>
                    <a:pt x="1622760" y="1395503"/>
                  </a:cubicBezTo>
                  <a:lnTo>
                    <a:pt x="18952" y="1395503"/>
                  </a:lnTo>
                  <a:cubicBezTo>
                    <a:pt x="13925" y="1395503"/>
                    <a:pt x="9105" y="1393506"/>
                    <a:pt x="5551" y="1389952"/>
                  </a:cubicBezTo>
                  <a:cubicBezTo>
                    <a:pt x="1997" y="1386398"/>
                    <a:pt x="0" y="1381578"/>
                    <a:pt x="0" y="1376551"/>
                  </a:cubicBezTo>
                  <a:lnTo>
                    <a:pt x="0" y="18952"/>
                  </a:lnTo>
                  <a:cubicBezTo>
                    <a:pt x="0" y="13925"/>
                    <a:pt x="1997" y="9105"/>
                    <a:pt x="5551" y="5551"/>
                  </a:cubicBezTo>
                  <a:cubicBezTo>
                    <a:pt x="9105" y="1997"/>
                    <a:pt x="13925" y="0"/>
                    <a:pt x="189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641711" cy="1405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2851" y="3361076"/>
            <a:ext cx="7590415" cy="3689842"/>
            <a:chOff x="0" y="0"/>
            <a:chExt cx="1175954" cy="5716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5954" cy="571653"/>
            </a:xfrm>
            <a:custGeom>
              <a:avLst/>
              <a:gdLst/>
              <a:ahLst/>
              <a:cxnLst/>
              <a:rect r="r" b="b" t="t" l="l"/>
              <a:pathLst>
                <a:path h="571653" w="1175954">
                  <a:moveTo>
                    <a:pt x="23459" y="0"/>
                  </a:moveTo>
                  <a:lnTo>
                    <a:pt x="1152495" y="0"/>
                  </a:lnTo>
                  <a:cubicBezTo>
                    <a:pt x="1158717" y="0"/>
                    <a:pt x="1164683" y="2472"/>
                    <a:pt x="1169083" y="6871"/>
                  </a:cubicBezTo>
                  <a:cubicBezTo>
                    <a:pt x="1173482" y="11270"/>
                    <a:pt x="1175954" y="17237"/>
                    <a:pt x="1175954" y="23459"/>
                  </a:cubicBezTo>
                  <a:lnTo>
                    <a:pt x="1175954" y="548194"/>
                  </a:lnTo>
                  <a:cubicBezTo>
                    <a:pt x="1175954" y="561150"/>
                    <a:pt x="1165451" y="571653"/>
                    <a:pt x="1152495" y="571653"/>
                  </a:cubicBezTo>
                  <a:lnTo>
                    <a:pt x="23459" y="571653"/>
                  </a:lnTo>
                  <a:cubicBezTo>
                    <a:pt x="10503" y="571653"/>
                    <a:pt x="0" y="561150"/>
                    <a:pt x="0" y="548194"/>
                  </a:cubicBezTo>
                  <a:lnTo>
                    <a:pt x="0" y="23459"/>
                  </a:lnTo>
                  <a:cubicBezTo>
                    <a:pt x="0" y="10503"/>
                    <a:pt x="10503" y="0"/>
                    <a:pt x="23459" y="0"/>
                  </a:cubicBezTo>
                  <a:close/>
                </a:path>
              </a:pathLst>
            </a:custGeom>
            <a:blipFill>
              <a:blip r:embed="rId4"/>
              <a:stretch>
                <a:fillRect l="-1405" t="0" r="-1405" b="0"/>
              </a:stretch>
            </a:blipFill>
          </p:spPr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347053" y="1752428"/>
          <a:ext cx="7912247" cy="6782144"/>
        </p:xfrm>
        <a:graphic>
          <a:graphicData uri="http://schemas.openxmlformats.org/drawingml/2006/table">
            <a:tbl>
              <a:tblPr/>
              <a:tblGrid>
                <a:gridCol w="3956123"/>
                <a:gridCol w="3956123"/>
              </a:tblGrid>
              <a:tr h="1356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356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epochs=20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Number of full training cycles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356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imgsz=256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Image resized to 256×256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356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batch=32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Images per iteration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356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optimizer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AdamW (auto-selected)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514350" y="165100"/>
            <a:ext cx="1725930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TRAINING &amp; PERFORMANCE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70835" y="1908874"/>
            <a:ext cx="549444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789013"/>
            <a:ext cx="16230600" cy="3163475"/>
            <a:chOff x="0" y="0"/>
            <a:chExt cx="3339630" cy="6509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39629" cy="650921"/>
            </a:xfrm>
            <a:custGeom>
              <a:avLst/>
              <a:gdLst/>
              <a:ahLst/>
              <a:cxnLst/>
              <a:rect r="r" b="b" t="t" l="l"/>
              <a:pathLst>
                <a:path h="650921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641604"/>
                  </a:lnTo>
                  <a:cubicBezTo>
                    <a:pt x="3339629" y="646750"/>
                    <a:pt x="3335458" y="650921"/>
                    <a:pt x="3330313" y="650921"/>
                  </a:cubicBezTo>
                  <a:lnTo>
                    <a:pt x="9316" y="650921"/>
                  </a:lnTo>
                  <a:cubicBezTo>
                    <a:pt x="4171" y="650921"/>
                    <a:pt x="0" y="646750"/>
                    <a:pt x="0" y="641604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339630" cy="660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9144000" y="3577821"/>
            <a:ext cx="0" cy="23746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3085921" y="3915039"/>
            <a:ext cx="3836523" cy="855957"/>
            <a:chOff x="0" y="0"/>
            <a:chExt cx="594378" cy="1326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78" cy="132610"/>
            </a:xfrm>
            <a:custGeom>
              <a:avLst/>
              <a:gdLst/>
              <a:ahLst/>
              <a:cxnLst/>
              <a:rect r="r" b="b" t="t" l="l"/>
              <a:pathLst>
                <a:path h="132610" w="594378">
                  <a:moveTo>
                    <a:pt x="16144" y="0"/>
                  </a:moveTo>
                  <a:lnTo>
                    <a:pt x="578234" y="0"/>
                  </a:lnTo>
                  <a:cubicBezTo>
                    <a:pt x="582516" y="0"/>
                    <a:pt x="586622" y="1701"/>
                    <a:pt x="589649" y="4728"/>
                  </a:cubicBezTo>
                  <a:cubicBezTo>
                    <a:pt x="592677" y="7756"/>
                    <a:pt x="594378" y="11862"/>
                    <a:pt x="594378" y="16144"/>
                  </a:cubicBezTo>
                  <a:lnTo>
                    <a:pt x="594378" y="116467"/>
                  </a:lnTo>
                  <a:cubicBezTo>
                    <a:pt x="594378" y="120748"/>
                    <a:pt x="592677" y="124854"/>
                    <a:pt x="589649" y="127882"/>
                  </a:cubicBezTo>
                  <a:cubicBezTo>
                    <a:pt x="586622" y="130909"/>
                    <a:pt x="582516" y="132610"/>
                    <a:pt x="578234" y="132610"/>
                  </a:cubicBezTo>
                  <a:lnTo>
                    <a:pt x="16144" y="132610"/>
                  </a:lnTo>
                  <a:cubicBezTo>
                    <a:pt x="11862" y="132610"/>
                    <a:pt x="7756" y="130909"/>
                    <a:pt x="4728" y="127882"/>
                  </a:cubicBezTo>
                  <a:cubicBezTo>
                    <a:pt x="1701" y="124854"/>
                    <a:pt x="0" y="120748"/>
                    <a:pt x="0" y="116467"/>
                  </a:cubicBezTo>
                  <a:lnTo>
                    <a:pt x="0" y="16144"/>
                  </a:lnTo>
                  <a:cubicBezTo>
                    <a:pt x="0" y="11862"/>
                    <a:pt x="1701" y="7756"/>
                    <a:pt x="4728" y="4728"/>
                  </a:cubicBezTo>
                  <a:cubicBezTo>
                    <a:pt x="7756" y="1701"/>
                    <a:pt x="11862" y="0"/>
                    <a:pt x="161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49324" y="3915039"/>
            <a:ext cx="3836523" cy="855957"/>
            <a:chOff x="0" y="0"/>
            <a:chExt cx="594378" cy="1326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78" cy="132610"/>
            </a:xfrm>
            <a:custGeom>
              <a:avLst/>
              <a:gdLst/>
              <a:ahLst/>
              <a:cxnLst/>
              <a:rect r="r" b="b" t="t" l="l"/>
              <a:pathLst>
                <a:path h="132610" w="594378">
                  <a:moveTo>
                    <a:pt x="16144" y="0"/>
                  </a:moveTo>
                  <a:lnTo>
                    <a:pt x="578234" y="0"/>
                  </a:lnTo>
                  <a:cubicBezTo>
                    <a:pt x="582516" y="0"/>
                    <a:pt x="586622" y="1701"/>
                    <a:pt x="589649" y="4728"/>
                  </a:cubicBezTo>
                  <a:cubicBezTo>
                    <a:pt x="592677" y="7756"/>
                    <a:pt x="594378" y="11862"/>
                    <a:pt x="594378" y="16144"/>
                  </a:cubicBezTo>
                  <a:lnTo>
                    <a:pt x="594378" y="116467"/>
                  </a:lnTo>
                  <a:cubicBezTo>
                    <a:pt x="594378" y="120748"/>
                    <a:pt x="592677" y="124854"/>
                    <a:pt x="589649" y="127882"/>
                  </a:cubicBezTo>
                  <a:cubicBezTo>
                    <a:pt x="586622" y="130909"/>
                    <a:pt x="582516" y="132610"/>
                    <a:pt x="578234" y="132610"/>
                  </a:cubicBezTo>
                  <a:lnTo>
                    <a:pt x="16144" y="132610"/>
                  </a:lnTo>
                  <a:cubicBezTo>
                    <a:pt x="11862" y="132610"/>
                    <a:pt x="7756" y="130909"/>
                    <a:pt x="4728" y="127882"/>
                  </a:cubicBezTo>
                  <a:cubicBezTo>
                    <a:pt x="1701" y="124854"/>
                    <a:pt x="0" y="120748"/>
                    <a:pt x="0" y="116467"/>
                  </a:cubicBezTo>
                  <a:lnTo>
                    <a:pt x="0" y="16144"/>
                  </a:lnTo>
                  <a:cubicBezTo>
                    <a:pt x="0" y="11862"/>
                    <a:pt x="1701" y="7756"/>
                    <a:pt x="4728" y="4728"/>
                  </a:cubicBezTo>
                  <a:cubicBezTo>
                    <a:pt x="7756" y="1701"/>
                    <a:pt x="11862" y="0"/>
                    <a:pt x="1614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463" r="0" b="-13463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18059" y="6991043"/>
            <a:ext cx="5880230" cy="1311924"/>
            <a:chOff x="0" y="0"/>
            <a:chExt cx="594378" cy="1326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378" cy="132610"/>
            </a:xfrm>
            <a:custGeom>
              <a:avLst/>
              <a:gdLst/>
              <a:ahLst/>
              <a:cxnLst/>
              <a:rect r="r" b="b" t="t" l="l"/>
              <a:pathLst>
                <a:path h="132610" w="594378">
                  <a:moveTo>
                    <a:pt x="10533" y="0"/>
                  </a:moveTo>
                  <a:lnTo>
                    <a:pt x="583845" y="0"/>
                  </a:lnTo>
                  <a:cubicBezTo>
                    <a:pt x="589662" y="0"/>
                    <a:pt x="594378" y="4716"/>
                    <a:pt x="594378" y="10533"/>
                  </a:cubicBezTo>
                  <a:lnTo>
                    <a:pt x="594378" y="122077"/>
                  </a:lnTo>
                  <a:cubicBezTo>
                    <a:pt x="594378" y="127894"/>
                    <a:pt x="589662" y="132610"/>
                    <a:pt x="583845" y="132610"/>
                  </a:cubicBezTo>
                  <a:lnTo>
                    <a:pt x="10533" y="132610"/>
                  </a:lnTo>
                  <a:cubicBezTo>
                    <a:pt x="4716" y="132610"/>
                    <a:pt x="0" y="127894"/>
                    <a:pt x="0" y="122077"/>
                  </a:cubicBezTo>
                  <a:lnTo>
                    <a:pt x="0" y="10533"/>
                  </a:lnTo>
                  <a:cubicBezTo>
                    <a:pt x="0" y="4716"/>
                    <a:pt x="4716" y="0"/>
                    <a:pt x="1053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626" r="0" b="-16626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14350" y="317500"/>
            <a:ext cx="17259300" cy="229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TRAINING &amp; PERFORMANCE ANALYSIS (CONT.)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96777" y="2926593"/>
            <a:ext cx="549444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Progress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70835" y="3352396"/>
            <a:ext cx="549444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Reduction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13673" y="4925904"/>
            <a:ext cx="380877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Indicates successful learning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No overfitting observed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20362" y="3352396"/>
            <a:ext cx="549444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 Metrics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07658" y="4885297"/>
            <a:ext cx="61198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Top-1 → Correct class ranked first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Top-5 → Correct class within top 5 predictions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Excellent classification performance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7385112"/>
            <a:ext cx="315106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Best Model Shows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75315" y="7394637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84038" y="7394637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41335" y="7209853"/>
            <a:ext cx="611985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Combined metric for performance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Best weights sav</a:t>
            </a:r>
            <a:r>
              <a:rPr lang="en-US" sz="21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ed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4350" y="1775313"/>
            <a:ext cx="6822690" cy="2558130"/>
            <a:chOff x="0" y="0"/>
            <a:chExt cx="1403846" cy="52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3846" cy="526364"/>
            </a:xfrm>
            <a:custGeom>
              <a:avLst/>
              <a:gdLst/>
              <a:ahLst/>
              <a:cxnLst/>
              <a:rect r="r" b="b" t="t" l="l"/>
              <a:pathLst>
                <a:path h="526364" w="1403846">
                  <a:moveTo>
                    <a:pt x="22163" y="0"/>
                  </a:moveTo>
                  <a:lnTo>
                    <a:pt x="1381683" y="0"/>
                  </a:lnTo>
                  <a:cubicBezTo>
                    <a:pt x="1387561" y="0"/>
                    <a:pt x="1393198" y="2335"/>
                    <a:pt x="1397354" y="6491"/>
                  </a:cubicBezTo>
                  <a:cubicBezTo>
                    <a:pt x="1401511" y="10648"/>
                    <a:pt x="1403846" y="16285"/>
                    <a:pt x="1403846" y="22163"/>
                  </a:cubicBezTo>
                  <a:lnTo>
                    <a:pt x="1403846" y="504202"/>
                  </a:lnTo>
                  <a:cubicBezTo>
                    <a:pt x="1403846" y="510079"/>
                    <a:pt x="1401511" y="515717"/>
                    <a:pt x="1397354" y="519873"/>
                  </a:cubicBezTo>
                  <a:cubicBezTo>
                    <a:pt x="1393198" y="524029"/>
                    <a:pt x="1387561" y="526364"/>
                    <a:pt x="1381683" y="526364"/>
                  </a:cubicBezTo>
                  <a:lnTo>
                    <a:pt x="22163" y="526364"/>
                  </a:lnTo>
                  <a:cubicBezTo>
                    <a:pt x="16285" y="526364"/>
                    <a:pt x="10648" y="524029"/>
                    <a:pt x="6491" y="519873"/>
                  </a:cubicBezTo>
                  <a:cubicBezTo>
                    <a:pt x="2335" y="515717"/>
                    <a:pt x="0" y="510079"/>
                    <a:pt x="0" y="504202"/>
                  </a:cubicBezTo>
                  <a:lnTo>
                    <a:pt x="0" y="22163"/>
                  </a:lnTo>
                  <a:cubicBezTo>
                    <a:pt x="0" y="16285"/>
                    <a:pt x="2335" y="10648"/>
                    <a:pt x="6491" y="6491"/>
                  </a:cubicBezTo>
                  <a:cubicBezTo>
                    <a:pt x="10648" y="2335"/>
                    <a:pt x="16285" y="0"/>
                    <a:pt x="221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03846" cy="53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8604" y="2464830"/>
            <a:ext cx="6454181" cy="961608"/>
            <a:chOff x="0" y="0"/>
            <a:chExt cx="999922" cy="148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922" cy="148978"/>
            </a:xfrm>
            <a:custGeom>
              <a:avLst/>
              <a:gdLst/>
              <a:ahLst/>
              <a:cxnLst/>
              <a:rect r="r" b="b" t="t" l="l"/>
              <a:pathLst>
                <a:path h="148978" w="999922">
                  <a:moveTo>
                    <a:pt x="27589" y="0"/>
                  </a:moveTo>
                  <a:lnTo>
                    <a:pt x="972333" y="0"/>
                  </a:lnTo>
                  <a:cubicBezTo>
                    <a:pt x="987570" y="0"/>
                    <a:pt x="999922" y="12352"/>
                    <a:pt x="999922" y="27589"/>
                  </a:cubicBezTo>
                  <a:lnTo>
                    <a:pt x="999922" y="121389"/>
                  </a:lnTo>
                  <a:cubicBezTo>
                    <a:pt x="999922" y="136626"/>
                    <a:pt x="987570" y="148978"/>
                    <a:pt x="972333" y="148978"/>
                  </a:cubicBezTo>
                  <a:lnTo>
                    <a:pt x="27589" y="148978"/>
                  </a:lnTo>
                  <a:cubicBezTo>
                    <a:pt x="20272" y="148978"/>
                    <a:pt x="13255" y="146072"/>
                    <a:pt x="8081" y="140898"/>
                  </a:cubicBezTo>
                  <a:cubicBezTo>
                    <a:pt x="2907" y="135724"/>
                    <a:pt x="0" y="128706"/>
                    <a:pt x="0" y="121389"/>
                  </a:cubicBezTo>
                  <a:lnTo>
                    <a:pt x="0" y="27589"/>
                  </a:lnTo>
                  <a:cubicBezTo>
                    <a:pt x="0" y="12352"/>
                    <a:pt x="12352" y="0"/>
                    <a:pt x="2758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047" r="0" b="-1604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84412" y="1775313"/>
            <a:ext cx="10200242" cy="2558130"/>
            <a:chOff x="0" y="0"/>
            <a:chExt cx="2098815" cy="5263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98815" cy="526364"/>
            </a:xfrm>
            <a:custGeom>
              <a:avLst/>
              <a:gdLst/>
              <a:ahLst/>
              <a:cxnLst/>
              <a:rect r="r" b="b" t="t" l="l"/>
              <a:pathLst>
                <a:path h="526364" w="2098815">
                  <a:moveTo>
                    <a:pt x="14824" y="0"/>
                  </a:moveTo>
                  <a:lnTo>
                    <a:pt x="2083991" y="0"/>
                  </a:lnTo>
                  <a:cubicBezTo>
                    <a:pt x="2092178" y="0"/>
                    <a:pt x="2098815" y="6637"/>
                    <a:pt x="2098815" y="14824"/>
                  </a:cubicBezTo>
                  <a:lnTo>
                    <a:pt x="2098815" y="511540"/>
                  </a:lnTo>
                  <a:cubicBezTo>
                    <a:pt x="2098815" y="519727"/>
                    <a:pt x="2092178" y="526364"/>
                    <a:pt x="2083991" y="526364"/>
                  </a:cubicBezTo>
                  <a:lnTo>
                    <a:pt x="14824" y="526364"/>
                  </a:lnTo>
                  <a:cubicBezTo>
                    <a:pt x="10893" y="526364"/>
                    <a:pt x="7122" y="524802"/>
                    <a:pt x="4342" y="522022"/>
                  </a:cubicBezTo>
                  <a:cubicBezTo>
                    <a:pt x="1562" y="519242"/>
                    <a:pt x="0" y="515472"/>
                    <a:pt x="0" y="511540"/>
                  </a:cubicBezTo>
                  <a:lnTo>
                    <a:pt x="0" y="14824"/>
                  </a:lnTo>
                  <a:cubicBezTo>
                    <a:pt x="0" y="10893"/>
                    <a:pt x="1562" y="7122"/>
                    <a:pt x="4342" y="4342"/>
                  </a:cubicBezTo>
                  <a:cubicBezTo>
                    <a:pt x="7122" y="1562"/>
                    <a:pt x="10893" y="0"/>
                    <a:pt x="148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98815" cy="53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4350" y="4733494"/>
            <a:ext cx="8355566" cy="3309461"/>
            <a:chOff x="0" y="0"/>
            <a:chExt cx="1719252" cy="6809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19252" cy="680959"/>
            </a:xfrm>
            <a:custGeom>
              <a:avLst/>
              <a:gdLst/>
              <a:ahLst/>
              <a:cxnLst/>
              <a:rect r="r" b="b" t="t" l="l"/>
              <a:pathLst>
                <a:path h="680959" w="1719252">
                  <a:moveTo>
                    <a:pt x="18097" y="0"/>
                  </a:moveTo>
                  <a:lnTo>
                    <a:pt x="1701156" y="0"/>
                  </a:lnTo>
                  <a:cubicBezTo>
                    <a:pt x="1711150" y="0"/>
                    <a:pt x="1719252" y="8102"/>
                    <a:pt x="1719252" y="18097"/>
                  </a:cubicBezTo>
                  <a:lnTo>
                    <a:pt x="1719252" y="662862"/>
                  </a:lnTo>
                  <a:cubicBezTo>
                    <a:pt x="1719252" y="667662"/>
                    <a:pt x="1717346" y="672265"/>
                    <a:pt x="1713952" y="675659"/>
                  </a:cubicBezTo>
                  <a:cubicBezTo>
                    <a:pt x="1710558" y="679052"/>
                    <a:pt x="1705955" y="680959"/>
                    <a:pt x="1701156" y="680959"/>
                  </a:cubicBezTo>
                  <a:lnTo>
                    <a:pt x="18097" y="680959"/>
                  </a:lnTo>
                  <a:cubicBezTo>
                    <a:pt x="8102" y="680959"/>
                    <a:pt x="0" y="672857"/>
                    <a:pt x="0" y="662862"/>
                  </a:cubicBezTo>
                  <a:lnTo>
                    <a:pt x="0" y="18097"/>
                  </a:lnTo>
                  <a:cubicBezTo>
                    <a:pt x="0" y="8102"/>
                    <a:pt x="8102" y="0"/>
                    <a:pt x="180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719252" cy="690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433835" y="2387168"/>
            <a:ext cx="2546191" cy="1841500"/>
            <a:chOff x="0" y="0"/>
            <a:chExt cx="394472" cy="2852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4472" cy="285297"/>
            </a:xfrm>
            <a:custGeom>
              <a:avLst/>
              <a:gdLst/>
              <a:ahLst/>
              <a:cxnLst/>
              <a:rect r="r" b="b" t="t" l="l"/>
              <a:pathLst>
                <a:path h="285297" w="394472">
                  <a:moveTo>
                    <a:pt x="69934" y="0"/>
                  </a:moveTo>
                  <a:lnTo>
                    <a:pt x="324538" y="0"/>
                  </a:lnTo>
                  <a:cubicBezTo>
                    <a:pt x="343086" y="0"/>
                    <a:pt x="360874" y="7368"/>
                    <a:pt x="373989" y="20483"/>
                  </a:cubicBezTo>
                  <a:cubicBezTo>
                    <a:pt x="387104" y="33598"/>
                    <a:pt x="394472" y="51386"/>
                    <a:pt x="394472" y="69934"/>
                  </a:cubicBezTo>
                  <a:lnTo>
                    <a:pt x="394472" y="215363"/>
                  </a:lnTo>
                  <a:cubicBezTo>
                    <a:pt x="394472" y="233911"/>
                    <a:pt x="387104" y="251698"/>
                    <a:pt x="373989" y="264814"/>
                  </a:cubicBezTo>
                  <a:cubicBezTo>
                    <a:pt x="360874" y="277929"/>
                    <a:pt x="343086" y="285297"/>
                    <a:pt x="324538" y="285297"/>
                  </a:cubicBezTo>
                  <a:lnTo>
                    <a:pt x="69934" y="285297"/>
                  </a:lnTo>
                  <a:cubicBezTo>
                    <a:pt x="51386" y="285297"/>
                    <a:pt x="33598" y="277929"/>
                    <a:pt x="20483" y="264814"/>
                  </a:cubicBezTo>
                  <a:cubicBezTo>
                    <a:pt x="7368" y="251698"/>
                    <a:pt x="0" y="233911"/>
                    <a:pt x="0" y="215363"/>
                  </a:cubicBezTo>
                  <a:lnTo>
                    <a:pt x="0" y="69934"/>
                  </a:lnTo>
                  <a:cubicBezTo>
                    <a:pt x="0" y="51386"/>
                    <a:pt x="7368" y="33598"/>
                    <a:pt x="20483" y="20483"/>
                  </a:cubicBezTo>
                  <a:cubicBezTo>
                    <a:pt x="33598" y="7368"/>
                    <a:pt x="51386" y="0"/>
                    <a:pt x="6993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467" r="0" b="-346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85080" y="5603353"/>
            <a:ext cx="6231015" cy="1029606"/>
            <a:chOff x="0" y="0"/>
            <a:chExt cx="1641090" cy="2711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1090" cy="271172"/>
            </a:xfrm>
            <a:custGeom>
              <a:avLst/>
              <a:gdLst/>
              <a:ahLst/>
              <a:cxnLst/>
              <a:rect r="r" b="b" t="t" l="l"/>
              <a:pathLst>
                <a:path h="271172" w="1641090">
                  <a:moveTo>
                    <a:pt x="18637" y="0"/>
                  </a:moveTo>
                  <a:lnTo>
                    <a:pt x="1622453" y="0"/>
                  </a:lnTo>
                  <a:cubicBezTo>
                    <a:pt x="1632746" y="0"/>
                    <a:pt x="1641090" y="8344"/>
                    <a:pt x="1641090" y="18637"/>
                  </a:cubicBezTo>
                  <a:lnTo>
                    <a:pt x="1641090" y="252535"/>
                  </a:lnTo>
                  <a:cubicBezTo>
                    <a:pt x="1641090" y="262828"/>
                    <a:pt x="1632746" y="271172"/>
                    <a:pt x="1622453" y="271172"/>
                  </a:cubicBezTo>
                  <a:lnTo>
                    <a:pt x="18637" y="271172"/>
                  </a:lnTo>
                  <a:cubicBezTo>
                    <a:pt x="8344" y="271172"/>
                    <a:pt x="0" y="262828"/>
                    <a:pt x="0" y="252535"/>
                  </a:cubicBezTo>
                  <a:lnTo>
                    <a:pt x="0" y="18637"/>
                  </a:lnTo>
                  <a:cubicBezTo>
                    <a:pt x="0" y="8344"/>
                    <a:pt x="8344" y="0"/>
                    <a:pt x="186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641090" cy="27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45996" y="4733494"/>
            <a:ext cx="8338658" cy="3309461"/>
            <a:chOff x="0" y="0"/>
            <a:chExt cx="1715773" cy="6809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15773" cy="680959"/>
            </a:xfrm>
            <a:custGeom>
              <a:avLst/>
              <a:gdLst/>
              <a:ahLst/>
              <a:cxnLst/>
              <a:rect r="r" b="b" t="t" l="l"/>
              <a:pathLst>
                <a:path h="680959" w="1715773">
                  <a:moveTo>
                    <a:pt x="18134" y="0"/>
                  </a:moveTo>
                  <a:lnTo>
                    <a:pt x="1697640" y="0"/>
                  </a:lnTo>
                  <a:cubicBezTo>
                    <a:pt x="1707654" y="0"/>
                    <a:pt x="1715773" y="8119"/>
                    <a:pt x="1715773" y="18134"/>
                  </a:cubicBezTo>
                  <a:lnTo>
                    <a:pt x="1715773" y="662826"/>
                  </a:lnTo>
                  <a:cubicBezTo>
                    <a:pt x="1715773" y="672840"/>
                    <a:pt x="1707654" y="680959"/>
                    <a:pt x="1697640" y="680959"/>
                  </a:cubicBezTo>
                  <a:lnTo>
                    <a:pt x="18134" y="680959"/>
                  </a:lnTo>
                  <a:cubicBezTo>
                    <a:pt x="8119" y="680959"/>
                    <a:pt x="0" y="672840"/>
                    <a:pt x="0" y="662826"/>
                  </a:cubicBezTo>
                  <a:lnTo>
                    <a:pt x="0" y="18134"/>
                  </a:lnTo>
                  <a:cubicBezTo>
                    <a:pt x="0" y="8119"/>
                    <a:pt x="8119" y="0"/>
                    <a:pt x="181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DA2A2">
                    <a:alpha val="70000"/>
                  </a:srgbClr>
                </a:gs>
                <a:gs pos="25000">
                  <a:srgbClr val="FABDBD">
                    <a:alpha val="70000"/>
                  </a:srgbClr>
                </a:gs>
                <a:gs pos="50000">
                  <a:srgbClr val="FFCFCE">
                    <a:alpha val="70000"/>
                  </a:srgbClr>
                </a:gs>
                <a:gs pos="75000">
                  <a:srgbClr val="FABDBD">
                    <a:alpha val="70000"/>
                  </a:srgbClr>
                </a:gs>
                <a:gs pos="100000">
                  <a:srgbClr val="DDA2A2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715773" cy="690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88235" y="5513961"/>
            <a:ext cx="6454181" cy="961608"/>
            <a:chOff x="0" y="0"/>
            <a:chExt cx="999922" cy="1489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9922" cy="148978"/>
            </a:xfrm>
            <a:custGeom>
              <a:avLst/>
              <a:gdLst/>
              <a:ahLst/>
              <a:cxnLst/>
              <a:rect r="r" b="b" t="t" l="l"/>
              <a:pathLst>
                <a:path h="148978" w="999922">
                  <a:moveTo>
                    <a:pt x="27589" y="0"/>
                  </a:moveTo>
                  <a:lnTo>
                    <a:pt x="972333" y="0"/>
                  </a:lnTo>
                  <a:cubicBezTo>
                    <a:pt x="987570" y="0"/>
                    <a:pt x="999922" y="12352"/>
                    <a:pt x="999922" y="27589"/>
                  </a:cubicBezTo>
                  <a:lnTo>
                    <a:pt x="999922" y="121389"/>
                  </a:lnTo>
                  <a:cubicBezTo>
                    <a:pt x="999922" y="136626"/>
                    <a:pt x="987570" y="148978"/>
                    <a:pt x="972333" y="148978"/>
                  </a:cubicBezTo>
                  <a:lnTo>
                    <a:pt x="27589" y="148978"/>
                  </a:lnTo>
                  <a:cubicBezTo>
                    <a:pt x="20272" y="148978"/>
                    <a:pt x="13255" y="146072"/>
                    <a:pt x="8081" y="140898"/>
                  </a:cubicBezTo>
                  <a:cubicBezTo>
                    <a:pt x="2907" y="135724"/>
                    <a:pt x="0" y="128706"/>
                    <a:pt x="0" y="121389"/>
                  </a:cubicBezTo>
                  <a:lnTo>
                    <a:pt x="0" y="27589"/>
                  </a:lnTo>
                  <a:cubicBezTo>
                    <a:pt x="0" y="12352"/>
                    <a:pt x="12352" y="0"/>
                    <a:pt x="2758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328" r="-28752" b="-3127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66954" y="165100"/>
            <a:ext cx="1655409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EVALUATION, TESTING &amp; PREDICTION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3454" y="1911001"/>
            <a:ext cx="470448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Evaluation on Test Dataset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93656" y="1911001"/>
            <a:ext cx="35271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10709" y="2553539"/>
            <a:ext cx="6472597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Diagonal values = Correct predictions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Minor confusion between cow ↔ lamb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Dog &amp; zebra achieved 100% accuracy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3281" y="4918075"/>
            <a:ext cx="635461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Classification Report Highlights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53397" y="3532901"/>
            <a:ext cx="514459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Predicts class with highest probability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Compared against true labels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13820" y="5892730"/>
            <a:ext cx="322375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Overall Accuracy 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77915" y="5865789"/>
            <a:ext cx="357296" cy="4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976" spc="-1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→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96423" y="5892730"/>
            <a:ext cx="80313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94%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8290" y="6709158"/>
            <a:ext cx="696459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Strong generalization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Slight ambiguity in visually similar animals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38019" y="4918075"/>
            <a:ext cx="635461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Single Image Prediction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33027" y="6709158"/>
            <a:ext cx="696459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Model correctly classified unseen image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✔ Visual confidence scores displayed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66954" y="165100"/>
            <a:ext cx="1655409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OUTPUT SCREENSHOTS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84672" y="2837557"/>
            <a:ext cx="7708990" cy="5685380"/>
            <a:chOff x="0" y="0"/>
            <a:chExt cx="1194324" cy="8808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4324" cy="880814"/>
            </a:xfrm>
            <a:custGeom>
              <a:avLst/>
              <a:gdLst/>
              <a:ahLst/>
              <a:cxnLst/>
              <a:rect r="r" b="b" t="t" l="l"/>
              <a:pathLst>
                <a:path h="880814" w="1194324">
                  <a:moveTo>
                    <a:pt x="23098" y="0"/>
                  </a:moveTo>
                  <a:lnTo>
                    <a:pt x="1171226" y="0"/>
                  </a:lnTo>
                  <a:cubicBezTo>
                    <a:pt x="1183983" y="0"/>
                    <a:pt x="1194324" y="10341"/>
                    <a:pt x="1194324" y="23098"/>
                  </a:cubicBezTo>
                  <a:lnTo>
                    <a:pt x="1194324" y="857716"/>
                  </a:lnTo>
                  <a:cubicBezTo>
                    <a:pt x="1194324" y="863842"/>
                    <a:pt x="1191891" y="869717"/>
                    <a:pt x="1187559" y="874049"/>
                  </a:cubicBezTo>
                  <a:cubicBezTo>
                    <a:pt x="1183227" y="878381"/>
                    <a:pt x="1177352" y="880814"/>
                    <a:pt x="1171226" y="880814"/>
                  </a:cubicBezTo>
                  <a:lnTo>
                    <a:pt x="23098" y="880814"/>
                  </a:lnTo>
                  <a:cubicBezTo>
                    <a:pt x="16972" y="880814"/>
                    <a:pt x="11097" y="878381"/>
                    <a:pt x="6765" y="874049"/>
                  </a:cubicBezTo>
                  <a:cubicBezTo>
                    <a:pt x="2434" y="869717"/>
                    <a:pt x="0" y="863842"/>
                    <a:pt x="0" y="857716"/>
                  </a:cubicBezTo>
                  <a:lnTo>
                    <a:pt x="0" y="23098"/>
                  </a:lnTo>
                  <a:cubicBezTo>
                    <a:pt x="0" y="16972"/>
                    <a:pt x="2434" y="11097"/>
                    <a:pt x="6765" y="6765"/>
                  </a:cubicBezTo>
                  <a:cubicBezTo>
                    <a:pt x="11097" y="2434"/>
                    <a:pt x="16972" y="0"/>
                    <a:pt x="2309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1140" y="2837557"/>
            <a:ext cx="7208630" cy="5685380"/>
            <a:chOff x="0" y="0"/>
            <a:chExt cx="1030569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0569" cy="812800"/>
            </a:xfrm>
            <a:custGeom>
              <a:avLst/>
              <a:gdLst/>
              <a:ahLst/>
              <a:cxnLst/>
              <a:rect r="r" b="b" t="t" l="l"/>
              <a:pathLst>
                <a:path h="812800" w="1030569">
                  <a:moveTo>
                    <a:pt x="24702" y="0"/>
                  </a:moveTo>
                  <a:lnTo>
                    <a:pt x="1005867" y="0"/>
                  </a:lnTo>
                  <a:cubicBezTo>
                    <a:pt x="1019509" y="0"/>
                    <a:pt x="1030569" y="11059"/>
                    <a:pt x="1030569" y="24702"/>
                  </a:cubicBezTo>
                  <a:lnTo>
                    <a:pt x="1030569" y="788098"/>
                  </a:lnTo>
                  <a:cubicBezTo>
                    <a:pt x="1030569" y="801741"/>
                    <a:pt x="1019509" y="812800"/>
                    <a:pt x="1005867" y="812800"/>
                  </a:cubicBezTo>
                  <a:lnTo>
                    <a:pt x="24702" y="812800"/>
                  </a:lnTo>
                  <a:cubicBezTo>
                    <a:pt x="11059" y="812800"/>
                    <a:pt x="0" y="801741"/>
                    <a:pt x="0" y="788098"/>
                  </a:cubicBezTo>
                  <a:lnTo>
                    <a:pt x="0" y="24702"/>
                  </a:lnTo>
                  <a:cubicBezTo>
                    <a:pt x="0" y="11059"/>
                    <a:pt x="11059" y="0"/>
                    <a:pt x="2470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183" r="0" b="-418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361861" y="1972816"/>
            <a:ext cx="635461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77153" y="1972816"/>
            <a:ext cx="635461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u="sng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2744130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68587"/>
            <a:ext cx="18288000" cy="1018413"/>
            <a:chOff x="0" y="0"/>
            <a:chExt cx="24384000" cy="135788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384000" cy="1357884"/>
              <a:chOff x="0" y="0"/>
              <a:chExt cx="3762963" cy="2095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62963" cy="209550"/>
              </a:xfrm>
              <a:custGeom>
                <a:avLst/>
                <a:gdLst/>
                <a:ahLst/>
                <a:cxnLst/>
                <a:rect r="r" b="b" t="t" l="l"/>
                <a:pathLst>
                  <a:path h="209550" w="3762963">
                    <a:moveTo>
                      <a:pt x="0" y="0"/>
                    </a:moveTo>
                    <a:lnTo>
                      <a:pt x="3762963" y="0"/>
                    </a:lnTo>
                    <a:lnTo>
                      <a:pt x="3762963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762963" cy="247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597436" y="-38100"/>
              <a:ext cx="3720042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paragraph text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801615" y="391075"/>
              <a:ext cx="2780771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No. - 1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926833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9987203" y="277622"/>
              <a:ext cx="369265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Md. Thaminuzzaman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2312877642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380978" y="277622"/>
              <a:ext cx="4561814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Md Shihabul Alam Shihab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2233115642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18520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144661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627232" y="-62315"/>
              <a:ext cx="274770" cy="1213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5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191932" y="277622"/>
              <a:ext cx="2495418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Noshin Nawar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2221507042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1891" y="277622"/>
              <a:ext cx="3474641" cy="80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999" b="true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Mubashshira Kaisar</a:t>
              </a:r>
            </a:p>
            <a:p>
              <a:pPr algn="ctr">
                <a:lnSpc>
                  <a:spcPts val="2459"/>
                </a:lnSpc>
              </a:pPr>
              <a:r>
                <a:rPr lang="en-US" b="true" sz="1999">
                  <a:solidFill>
                    <a:srgbClr val="FFF5E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2221070642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DAG7XrcbS78</dc:identifier>
  <dcterms:modified xsi:type="dcterms:W3CDTF">2011-08-01T06:04:30Z</dcterms:modified>
  <cp:revision>1</cp:revision>
  <dc:title>Pink and Purple Illustrative Computer Technology Presentation</dc:title>
</cp:coreProperties>
</file>